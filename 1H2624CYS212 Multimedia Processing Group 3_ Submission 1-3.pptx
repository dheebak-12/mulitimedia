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969A0D-016F-44CF-ACF5-BAA6737E0D2A}">
  <a:tblStyle styleId="{65969A0D-016F-44CF-ACF5-BAA6737E0D2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B232A72E-F56A-41D7-BB1C-4E4CB048594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9bc703466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a9bc703466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9bc703466_2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a9bc703466_2_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9bc703466_2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a9bc703466_2_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9bc703466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a9bc703466_2_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9bc703466_4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a9bc703466_4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9bc703466_4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3a9bc703466_4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9bc703466_4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3a9bc703466_4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9bc703466_4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a9bc703466_4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9bc703466_4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3a9bc703466_4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9bc703466_4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a9bc703466_4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9bc703466_17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g3a9bc703466_17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a9bc703466_4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t/>
            </a:r>
            <a:endParaRPr/>
          </a:p>
        </p:txBody>
      </p:sp>
      <p:sp>
        <p:nvSpPr>
          <p:cNvPr id="256" name="Google Shape;256;g3a9bc703466_4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1" name="Google Shape;71;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3887391" y="740569"/>
            <a:ext cx="4629150" cy="3655219"/>
          </a:xfrm>
          <a:prstGeom prst="rect">
            <a:avLst/>
          </a:prstGeom>
          <a:noFill/>
          <a:ln>
            <a:noFill/>
          </a:ln>
        </p:spPr>
      </p:sp>
      <p:sp>
        <p:nvSpPr>
          <p:cNvPr id="109" name="Google Shape;109;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hyperlink" Target="https://github.com/Dheebak-12/mulitimedia/tree/main/Q1/Desaturation" TargetMode="External"/><Relationship Id="rId4" Type="http://schemas.openxmlformats.org/officeDocument/2006/relationships/hyperlink" Target="https://github.com/thri937/24CYS212_Multimedia_processing_Lab/tree/main/Q2/K_means%20With%20Rate%20Distortion" TargetMode="External"/><Relationship Id="rId5" Type="http://schemas.openxmlformats.org/officeDocument/2006/relationships/hyperlink" Target="https://github.com/Dheebak-12/mulitimedia/tree/main/Q1/Median_cut" TargetMode="External"/><Relationship Id="rId6" Type="http://schemas.openxmlformats.org/officeDocument/2006/relationships/hyperlink" Target="https://github.com/Dheebak-12/mulitimedia/tree/main/Q1/Octre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5.jpg"/><Relationship Id="rId5"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hyperlink" Target="https://tannerhelland.com/2011/10/01/grayscale-image-algorithm-vb6.html" TargetMode="External"/><Relationship Id="rId4" Type="http://schemas.openxmlformats.org/officeDocument/2006/relationships/hyperlink" Target="https://github.com/Chadys/QuantizeImageMethods" TargetMode="External"/><Relationship Id="rId5" Type="http://schemas.openxmlformats.org/officeDocument/2006/relationships/hyperlink" Target="https://www.cg.tuwien.ac.at/research/publications/1988/purgathofer-1988-simple/purgathofer-1988-simple-Paper.PDF" TargetMode="External"/><Relationship Id="rId6" Type="http://schemas.openxmlformats.org/officeDocument/2006/relationships/hyperlink" Target="https://observablehq.com/@tmcw/octree-color-quantiza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github.com/Dheebak-12/mulitimedia/tree/main/Q2/Rate_distortion_quantizati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1.png"/><Relationship Id="rId8"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hyperlink" Target="https://www.geeksforgeeks.org/machine-learning/image-compression-using-k-means-clustering/" TargetMode="External"/><Relationship Id="rId4" Type="http://schemas.openxmlformats.org/officeDocument/2006/relationships/hyperlink" Target="https://youtu.be/EItlUEPCIzM?si=XwUwgmInl_-zwaF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hyperlink" Target="https://github.com/Dheebak-12/mulitimedia/tree/main/Q3" TargetMode="External"/><Relationship Id="rId4" Type="http://schemas.openxmlformats.org/officeDocument/2006/relationships/hyperlink" Target="https://github.com/thri937/24CYS212_Multimedia_processing_Lab/tree/main/Q2/K_means%20With%20Rate%20Distortio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2.png"/><Relationship Id="rId10" Type="http://schemas.openxmlformats.org/officeDocument/2006/relationships/image" Target="../media/image2.png"/><Relationship Id="rId9" Type="http://schemas.openxmlformats.org/officeDocument/2006/relationships/image" Target="../media/image19.png"/><Relationship Id="rId5" Type="http://schemas.openxmlformats.org/officeDocument/2006/relationships/image" Target="../media/image15.png"/><Relationship Id="rId6" Type="http://schemas.openxmlformats.org/officeDocument/2006/relationships/image" Target="../media/image4.png"/><Relationship Id="rId7" Type="http://schemas.openxmlformats.org/officeDocument/2006/relationships/image" Target="../media/image18.png"/><Relationship Id="rId8"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ctrTitle"/>
          </p:nvPr>
        </p:nvSpPr>
        <p:spPr>
          <a:xfrm>
            <a:off x="1084525" y="-98637"/>
            <a:ext cx="6858000" cy="634200"/>
          </a:xfrm>
          <a:prstGeom prst="rect">
            <a:avLst/>
          </a:prstGeom>
          <a:noFill/>
          <a:ln>
            <a:noFill/>
          </a:ln>
        </p:spPr>
        <p:txBody>
          <a:bodyPr anchorCtr="0" anchor="b" bIns="34275" lIns="68575" spcFirstLastPara="1" rIns="68575" wrap="square" tIns="34275">
            <a:normAutofit/>
          </a:bodyPr>
          <a:lstStyle/>
          <a:p>
            <a:pPr indent="0" lvl="0" marL="0" rtl="0" algn="ctr">
              <a:lnSpc>
                <a:spcPct val="90000"/>
              </a:lnSpc>
              <a:spcBef>
                <a:spcPts val="0"/>
              </a:spcBef>
              <a:spcAft>
                <a:spcPts val="0"/>
              </a:spcAft>
              <a:buClr>
                <a:schemeClr val="dk1"/>
              </a:buClr>
              <a:buSzPts val="4050"/>
              <a:buFont typeface="Calibri"/>
              <a:buNone/>
            </a:pPr>
            <a:r>
              <a:rPr lang="en" sz="3450"/>
              <a:t>Problem 1: Quantizations</a:t>
            </a:r>
            <a:endParaRPr sz="3450"/>
          </a:p>
        </p:txBody>
      </p:sp>
      <p:sp>
        <p:nvSpPr>
          <p:cNvPr id="130" name="Google Shape;130;p25"/>
          <p:cNvSpPr txBox="1"/>
          <p:nvPr>
            <p:ph idx="1" type="subTitle"/>
          </p:nvPr>
        </p:nvSpPr>
        <p:spPr>
          <a:xfrm>
            <a:off x="401200" y="2024350"/>
            <a:ext cx="5139900" cy="609600"/>
          </a:xfrm>
          <a:prstGeom prst="rect">
            <a:avLst/>
          </a:prstGeom>
          <a:noFill/>
          <a:ln>
            <a:noFill/>
          </a:ln>
        </p:spPr>
        <p:txBody>
          <a:bodyPr anchorCtr="0" anchor="t" bIns="34275" lIns="68575" spcFirstLastPara="1" rIns="68575" wrap="square" tIns="34275">
            <a:spAutoFit/>
          </a:bodyPr>
          <a:lstStyle/>
          <a:p>
            <a:pPr indent="0" lvl="1" marL="0" rtl="0" algn="l">
              <a:lnSpc>
                <a:spcPct val="90000"/>
              </a:lnSpc>
              <a:spcBef>
                <a:spcPts val="400"/>
              </a:spcBef>
              <a:spcAft>
                <a:spcPts val="0"/>
              </a:spcAft>
              <a:buClr>
                <a:schemeClr val="dk1"/>
              </a:buClr>
              <a:buSzPts val="1100"/>
              <a:buNone/>
            </a:pPr>
            <a:r>
              <a:rPr b="1" lang="en" sz="1300"/>
              <a:t>Problem Background</a:t>
            </a:r>
            <a:r>
              <a:rPr lang="en" sz="1300"/>
              <a:t> - </a:t>
            </a:r>
            <a:r>
              <a:rPr lang="en" sz="1300"/>
              <a:t>compares the results of median cut and octree </a:t>
            </a:r>
            <a:r>
              <a:rPr lang="en" sz="1300"/>
              <a:t>methods to observe how quantization affects image appearance and compression.</a:t>
            </a:r>
            <a:endParaRPr sz="1300"/>
          </a:p>
        </p:txBody>
      </p:sp>
      <p:graphicFrame>
        <p:nvGraphicFramePr>
          <p:cNvPr id="131" name="Google Shape;131;p25"/>
          <p:cNvGraphicFramePr/>
          <p:nvPr/>
        </p:nvGraphicFramePr>
        <p:xfrm>
          <a:off x="1388156" y="601886"/>
          <a:ext cx="3000000" cy="3000000"/>
        </p:xfrm>
        <a:graphic>
          <a:graphicData uri="http://schemas.openxmlformats.org/drawingml/2006/table">
            <a:tbl>
              <a:tblPr>
                <a:noFill/>
                <a:tableStyleId>{65969A0D-016F-44CF-ACF5-BAA6737E0D2A}</a:tableStyleId>
              </a:tblPr>
              <a:tblGrid>
                <a:gridCol w="1237975"/>
                <a:gridCol w="1321400"/>
                <a:gridCol w="3691375"/>
              </a:tblGrid>
              <a:tr h="331675">
                <a:tc>
                  <a:txBody>
                    <a:bodyPr/>
                    <a:lstStyle/>
                    <a:p>
                      <a:pPr indent="0" lvl="0" marL="0" marR="0" rtl="0" algn="l">
                        <a:spcBef>
                          <a:spcPts val="0"/>
                        </a:spcBef>
                        <a:spcAft>
                          <a:spcPts val="0"/>
                        </a:spcAft>
                        <a:buNone/>
                      </a:pPr>
                      <a:r>
                        <a:rPr lang="en" sz="1200"/>
                        <a:t>Asmi S.L.</a:t>
                      </a:r>
                      <a:endParaRPr sz="1200">
                        <a:latin typeface="Calibri"/>
                        <a:ea typeface="Calibri"/>
                        <a:cs typeface="Calibri"/>
                        <a:sym typeface="Calibri"/>
                      </a:endParaRPr>
                    </a:p>
                  </a:txBody>
                  <a:tcPr marT="34300" marB="34300" marR="68600" marL="68600">
                    <a:solidFill>
                      <a:srgbClr val="D9EAD3"/>
                    </a:solidFill>
                  </a:tcPr>
                </a:tc>
                <a:tc>
                  <a:txBody>
                    <a:bodyPr/>
                    <a:lstStyle/>
                    <a:p>
                      <a:pPr indent="0" lvl="0" marL="0" marR="0" rtl="0" algn="ctr">
                        <a:spcBef>
                          <a:spcPts val="0"/>
                        </a:spcBef>
                        <a:spcAft>
                          <a:spcPts val="0"/>
                        </a:spcAft>
                        <a:buNone/>
                      </a:pPr>
                      <a:r>
                        <a:rPr lang="en" sz="1200"/>
                        <a:t>CB.SC.U4CYS24108</a:t>
                      </a:r>
                      <a:endParaRPr sz="1200">
                        <a:latin typeface="Calibri"/>
                        <a:ea typeface="Calibri"/>
                        <a:cs typeface="Calibri"/>
                        <a:sym typeface="Calibri"/>
                      </a:endParaRPr>
                    </a:p>
                  </a:txBody>
                  <a:tcPr marT="34300" marB="34300" marR="68600" marL="68600">
                    <a:solidFill>
                      <a:srgbClr val="D9EAD3"/>
                    </a:solidFill>
                  </a:tcPr>
                </a:tc>
                <a:tc>
                  <a:txBody>
                    <a:bodyPr/>
                    <a:lstStyle/>
                    <a:p>
                      <a:pPr indent="0" lvl="0" marL="0" marR="0" rtl="0" algn="l">
                        <a:spcBef>
                          <a:spcPts val="0"/>
                        </a:spcBef>
                        <a:spcAft>
                          <a:spcPts val="0"/>
                        </a:spcAft>
                        <a:buNone/>
                      </a:pPr>
                      <a:r>
                        <a:rPr lang="en" sz="1200"/>
                        <a:t>cb.sc.u4cys24108@cb.students.amrita.edu</a:t>
                      </a:r>
                      <a:endParaRPr sz="1200">
                        <a:latin typeface="Calibri"/>
                        <a:ea typeface="Calibri"/>
                        <a:cs typeface="Calibri"/>
                        <a:sym typeface="Calibri"/>
                      </a:endParaRPr>
                    </a:p>
                  </a:txBody>
                  <a:tcPr marT="34300" marB="34300" marR="68600" marL="68600">
                    <a:solidFill>
                      <a:srgbClr val="D9EAD3"/>
                    </a:solidFill>
                  </a:tcPr>
                </a:tc>
              </a:tr>
              <a:tr h="238325">
                <a:tc>
                  <a:txBody>
                    <a:bodyPr/>
                    <a:lstStyle/>
                    <a:p>
                      <a:pPr indent="0" lvl="0" marL="0" marR="0" rtl="0" algn="l">
                        <a:spcBef>
                          <a:spcPts val="0"/>
                        </a:spcBef>
                        <a:spcAft>
                          <a:spcPts val="0"/>
                        </a:spcAft>
                        <a:buNone/>
                      </a:pPr>
                      <a:r>
                        <a:rPr lang="en" sz="1200"/>
                        <a:t>Divija G.K.</a:t>
                      </a:r>
                      <a:endParaRPr sz="1200">
                        <a:latin typeface="Calibri"/>
                        <a:ea typeface="Calibri"/>
                        <a:cs typeface="Calibri"/>
                        <a:sym typeface="Calibri"/>
                      </a:endParaRPr>
                    </a:p>
                  </a:txBody>
                  <a:tcPr marT="34300" marB="34300" marR="68600" marL="68600">
                    <a:solidFill>
                      <a:srgbClr val="D9EAD3"/>
                    </a:solidFill>
                  </a:tcPr>
                </a:tc>
                <a:tc>
                  <a:txBody>
                    <a:bodyPr/>
                    <a:lstStyle/>
                    <a:p>
                      <a:pPr indent="0" lvl="0" marL="0" rtl="0" algn="ctr">
                        <a:spcBef>
                          <a:spcPts val="0"/>
                        </a:spcBef>
                        <a:spcAft>
                          <a:spcPts val="0"/>
                        </a:spcAft>
                        <a:buNone/>
                      </a:pPr>
                      <a:r>
                        <a:rPr lang="en" sz="1200"/>
                        <a:t>CB.SC.U4CYS24117</a:t>
                      </a:r>
                      <a:endParaRPr sz="1200"/>
                    </a:p>
                  </a:txBody>
                  <a:tcPr marT="34300" marB="34300" marR="68600" marL="68600">
                    <a:solidFill>
                      <a:srgbClr val="D9EAD3"/>
                    </a:solidFill>
                  </a:tcPr>
                </a:tc>
                <a:tc>
                  <a:txBody>
                    <a:bodyPr/>
                    <a:lstStyle/>
                    <a:p>
                      <a:pPr indent="0" lvl="0" marL="0" rtl="0" algn="l">
                        <a:spcBef>
                          <a:spcPts val="0"/>
                        </a:spcBef>
                        <a:spcAft>
                          <a:spcPts val="0"/>
                        </a:spcAft>
                        <a:buClr>
                          <a:schemeClr val="dk1"/>
                        </a:buClr>
                        <a:buFont typeface="Arial"/>
                        <a:buNone/>
                      </a:pPr>
                      <a:r>
                        <a:rPr lang="en" sz="1200"/>
                        <a:t>cb.sc.u4cys24117@cb.students.amrita.edu</a:t>
                      </a:r>
                      <a:endParaRPr sz="1200">
                        <a:latin typeface="Calibri"/>
                        <a:ea typeface="Calibri"/>
                        <a:cs typeface="Calibri"/>
                        <a:sym typeface="Calibri"/>
                      </a:endParaRPr>
                    </a:p>
                  </a:txBody>
                  <a:tcPr marT="34300" marB="34300" marR="68600" marL="68600">
                    <a:solidFill>
                      <a:srgbClr val="D9EAD3"/>
                    </a:solidFill>
                  </a:tcPr>
                </a:tc>
              </a:tr>
              <a:tr h="238325">
                <a:tc>
                  <a:txBody>
                    <a:bodyPr/>
                    <a:lstStyle/>
                    <a:p>
                      <a:pPr indent="0" lvl="0" marL="0" marR="0" rtl="0" algn="l">
                        <a:spcBef>
                          <a:spcPts val="0"/>
                        </a:spcBef>
                        <a:spcAft>
                          <a:spcPts val="0"/>
                        </a:spcAft>
                        <a:buNone/>
                      </a:pPr>
                      <a:r>
                        <a:rPr lang="en" sz="1200"/>
                        <a:t>G.Dheebak Raaj</a:t>
                      </a:r>
                      <a:endParaRPr sz="1200">
                        <a:latin typeface="Calibri"/>
                        <a:ea typeface="Calibri"/>
                        <a:cs typeface="Calibri"/>
                        <a:sym typeface="Calibri"/>
                      </a:endParaRPr>
                    </a:p>
                  </a:txBody>
                  <a:tcPr marT="34300" marB="34300" marR="68600" marL="68600">
                    <a:solidFill>
                      <a:srgbClr val="D9EAD3"/>
                    </a:solidFill>
                  </a:tcPr>
                </a:tc>
                <a:tc>
                  <a:txBody>
                    <a:bodyPr/>
                    <a:lstStyle/>
                    <a:p>
                      <a:pPr indent="0" lvl="0" marL="0" rtl="0" algn="ctr">
                        <a:spcBef>
                          <a:spcPts val="0"/>
                        </a:spcBef>
                        <a:spcAft>
                          <a:spcPts val="0"/>
                        </a:spcAft>
                        <a:buNone/>
                      </a:pPr>
                      <a:r>
                        <a:rPr lang="en" sz="1200"/>
                        <a:t>CB.SC.U4CYS24118</a:t>
                      </a:r>
                      <a:endParaRPr sz="1200"/>
                    </a:p>
                  </a:txBody>
                  <a:tcPr marT="34300" marB="34300" marR="68600" marL="68600">
                    <a:solidFill>
                      <a:srgbClr val="D9EAD3"/>
                    </a:solidFill>
                  </a:tcPr>
                </a:tc>
                <a:tc>
                  <a:txBody>
                    <a:bodyPr/>
                    <a:lstStyle/>
                    <a:p>
                      <a:pPr indent="0" lvl="0" marL="0" rtl="0" algn="l">
                        <a:spcBef>
                          <a:spcPts val="0"/>
                        </a:spcBef>
                        <a:spcAft>
                          <a:spcPts val="0"/>
                        </a:spcAft>
                        <a:buClr>
                          <a:schemeClr val="dk1"/>
                        </a:buClr>
                        <a:buFont typeface="Arial"/>
                        <a:buNone/>
                      </a:pPr>
                      <a:r>
                        <a:rPr lang="en" sz="1200"/>
                        <a:t>cb.sc.u4cys24118@cb.students.amrita.edu</a:t>
                      </a:r>
                      <a:endParaRPr sz="1200">
                        <a:latin typeface="Calibri"/>
                        <a:ea typeface="Calibri"/>
                        <a:cs typeface="Calibri"/>
                        <a:sym typeface="Calibri"/>
                      </a:endParaRPr>
                    </a:p>
                  </a:txBody>
                  <a:tcPr marT="34300" marB="34300" marR="68600" marL="68600">
                    <a:solidFill>
                      <a:srgbClr val="D9EAD3"/>
                    </a:solidFill>
                  </a:tcPr>
                </a:tc>
              </a:tr>
              <a:tr h="238325">
                <a:tc>
                  <a:txBody>
                    <a:bodyPr/>
                    <a:lstStyle/>
                    <a:p>
                      <a:pPr indent="0" lvl="0" marL="0" marR="0" rtl="0" algn="l">
                        <a:spcBef>
                          <a:spcPts val="0"/>
                        </a:spcBef>
                        <a:spcAft>
                          <a:spcPts val="0"/>
                        </a:spcAft>
                        <a:buNone/>
                      </a:pPr>
                      <a:r>
                        <a:rPr lang="en" sz="1200"/>
                        <a:t>Gayatri Rajesh</a:t>
                      </a:r>
                      <a:endParaRPr sz="1200">
                        <a:latin typeface="Calibri"/>
                        <a:ea typeface="Calibri"/>
                        <a:cs typeface="Calibri"/>
                        <a:sym typeface="Calibri"/>
                      </a:endParaRPr>
                    </a:p>
                  </a:txBody>
                  <a:tcPr marT="34300" marB="34300" marR="68600" marL="68600">
                    <a:solidFill>
                      <a:srgbClr val="D9EAD3"/>
                    </a:solidFill>
                  </a:tcPr>
                </a:tc>
                <a:tc>
                  <a:txBody>
                    <a:bodyPr/>
                    <a:lstStyle/>
                    <a:p>
                      <a:pPr indent="0" lvl="0" marL="0" rtl="0" algn="ctr">
                        <a:spcBef>
                          <a:spcPts val="0"/>
                        </a:spcBef>
                        <a:spcAft>
                          <a:spcPts val="0"/>
                        </a:spcAft>
                        <a:buNone/>
                      </a:pPr>
                      <a:r>
                        <a:rPr lang="en" sz="1200"/>
                        <a:t>CB.SC.U4CYS24120</a:t>
                      </a:r>
                      <a:endParaRPr sz="1200"/>
                    </a:p>
                  </a:txBody>
                  <a:tcPr marT="34300" marB="34300" marR="68600" marL="68600">
                    <a:solidFill>
                      <a:srgbClr val="D9EAD3"/>
                    </a:solidFill>
                  </a:tcPr>
                </a:tc>
                <a:tc>
                  <a:txBody>
                    <a:bodyPr/>
                    <a:lstStyle/>
                    <a:p>
                      <a:pPr indent="0" lvl="0" marL="0" rtl="0" algn="l">
                        <a:spcBef>
                          <a:spcPts val="0"/>
                        </a:spcBef>
                        <a:spcAft>
                          <a:spcPts val="0"/>
                        </a:spcAft>
                        <a:buClr>
                          <a:schemeClr val="dk1"/>
                        </a:buClr>
                        <a:buFont typeface="Arial"/>
                        <a:buNone/>
                      </a:pPr>
                      <a:r>
                        <a:rPr lang="en" sz="1200"/>
                        <a:t>cb.sc.u4cys24120@cb.students.amrita.edu</a:t>
                      </a:r>
                      <a:endParaRPr sz="1200">
                        <a:latin typeface="Calibri"/>
                        <a:ea typeface="Calibri"/>
                        <a:cs typeface="Calibri"/>
                        <a:sym typeface="Calibri"/>
                      </a:endParaRPr>
                    </a:p>
                  </a:txBody>
                  <a:tcPr marT="34300" marB="34300" marR="68600" marL="68600">
                    <a:solidFill>
                      <a:srgbClr val="D9EAD3"/>
                    </a:solidFill>
                  </a:tcPr>
                </a:tc>
              </a:tr>
              <a:tr h="238325">
                <a:tc>
                  <a:txBody>
                    <a:bodyPr/>
                    <a:lstStyle/>
                    <a:p>
                      <a:pPr indent="0" lvl="0" marL="0" marR="0" rtl="0" algn="l">
                        <a:spcBef>
                          <a:spcPts val="0"/>
                        </a:spcBef>
                        <a:spcAft>
                          <a:spcPts val="0"/>
                        </a:spcAft>
                        <a:buNone/>
                      </a:pPr>
                      <a:r>
                        <a:rPr lang="en" sz="1200"/>
                        <a:t>Rithika</a:t>
                      </a:r>
                      <a:endParaRPr sz="1200">
                        <a:latin typeface="Calibri"/>
                        <a:ea typeface="Calibri"/>
                        <a:cs typeface="Calibri"/>
                        <a:sym typeface="Calibri"/>
                      </a:endParaRPr>
                    </a:p>
                  </a:txBody>
                  <a:tcPr marT="34300" marB="34300" marR="68600" marL="68600">
                    <a:solidFill>
                      <a:srgbClr val="D9EAD3"/>
                    </a:solidFill>
                  </a:tcPr>
                </a:tc>
                <a:tc>
                  <a:txBody>
                    <a:bodyPr/>
                    <a:lstStyle/>
                    <a:p>
                      <a:pPr indent="0" lvl="0" marL="0" rtl="0" algn="ctr">
                        <a:spcBef>
                          <a:spcPts val="0"/>
                        </a:spcBef>
                        <a:spcAft>
                          <a:spcPts val="0"/>
                        </a:spcAft>
                        <a:buNone/>
                      </a:pPr>
                      <a:r>
                        <a:rPr lang="en" sz="1200"/>
                        <a:t>CB.SC.U4CYS24144</a:t>
                      </a:r>
                      <a:endParaRPr sz="1200"/>
                    </a:p>
                  </a:txBody>
                  <a:tcPr marT="34300" marB="34300" marR="68600" marL="68600">
                    <a:solidFill>
                      <a:srgbClr val="D9EAD3"/>
                    </a:solidFill>
                  </a:tcPr>
                </a:tc>
                <a:tc>
                  <a:txBody>
                    <a:bodyPr/>
                    <a:lstStyle/>
                    <a:p>
                      <a:pPr indent="0" lvl="0" marL="0" rtl="0" algn="l">
                        <a:spcBef>
                          <a:spcPts val="0"/>
                        </a:spcBef>
                        <a:spcAft>
                          <a:spcPts val="0"/>
                        </a:spcAft>
                        <a:buClr>
                          <a:schemeClr val="dk1"/>
                        </a:buClr>
                        <a:buFont typeface="Arial"/>
                        <a:buNone/>
                      </a:pPr>
                      <a:r>
                        <a:rPr lang="en" sz="1200"/>
                        <a:t>cb.sc.u4cys24144@cb.students.amrita.edu</a:t>
                      </a:r>
                      <a:endParaRPr sz="1200">
                        <a:latin typeface="Calibri"/>
                        <a:ea typeface="Calibri"/>
                        <a:cs typeface="Calibri"/>
                        <a:sym typeface="Calibri"/>
                      </a:endParaRPr>
                    </a:p>
                  </a:txBody>
                  <a:tcPr marT="34300" marB="34300" marR="68600" marL="68600">
                    <a:solidFill>
                      <a:srgbClr val="D9EAD3"/>
                    </a:solidFill>
                  </a:tcPr>
                </a:tc>
              </a:tr>
            </a:tbl>
          </a:graphicData>
        </a:graphic>
      </p:graphicFrame>
      <p:sp>
        <p:nvSpPr>
          <p:cNvPr id="132" name="Google Shape;132;p25"/>
          <p:cNvSpPr txBox="1"/>
          <p:nvPr/>
        </p:nvSpPr>
        <p:spPr>
          <a:xfrm>
            <a:off x="401200" y="2586798"/>
            <a:ext cx="47640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u="none" cap="none" strike="noStrike">
                <a:solidFill>
                  <a:schemeClr val="dk1"/>
                </a:solidFill>
                <a:latin typeface="Calibri"/>
                <a:ea typeface="Calibri"/>
                <a:cs typeface="Calibri"/>
                <a:sym typeface="Calibri"/>
              </a:rPr>
              <a:t>TABULARIZATION : </a:t>
            </a:r>
            <a:endParaRPr b="1" sz="1100"/>
          </a:p>
        </p:txBody>
      </p:sp>
      <p:graphicFrame>
        <p:nvGraphicFramePr>
          <p:cNvPr id="133" name="Google Shape;133;p25"/>
          <p:cNvGraphicFramePr/>
          <p:nvPr/>
        </p:nvGraphicFramePr>
        <p:xfrm>
          <a:off x="401195" y="2830424"/>
          <a:ext cx="3000000" cy="3000000"/>
        </p:xfrm>
        <a:graphic>
          <a:graphicData uri="http://schemas.openxmlformats.org/drawingml/2006/table">
            <a:tbl>
              <a:tblPr>
                <a:noFill/>
                <a:tableStyleId>{65969A0D-016F-44CF-ACF5-BAA6737E0D2A}</a:tableStyleId>
              </a:tblPr>
              <a:tblGrid>
                <a:gridCol w="2186025"/>
                <a:gridCol w="2228775"/>
              </a:tblGrid>
              <a:tr h="274050">
                <a:tc>
                  <a:txBody>
                    <a:bodyPr/>
                    <a:lstStyle/>
                    <a:p>
                      <a:pPr indent="0" lvl="0" marL="0" marR="0" rtl="0" algn="l">
                        <a:spcBef>
                          <a:spcPts val="0"/>
                        </a:spcBef>
                        <a:spcAft>
                          <a:spcPts val="0"/>
                        </a:spcAft>
                        <a:buClr>
                          <a:schemeClr val="dk1"/>
                        </a:buClr>
                        <a:buSzPts val="800"/>
                        <a:buFont typeface="Calibri"/>
                        <a:buNone/>
                      </a:pPr>
                      <a:r>
                        <a:rPr b="1" lang="en" sz="1200"/>
                        <a:t>Property</a:t>
                      </a:r>
                      <a:endParaRPr b="1" sz="1200"/>
                    </a:p>
                  </a:txBody>
                  <a:tcPr marT="34300" marB="34300" marR="68600" marL="68600"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b="1" lang="en" sz="1200"/>
                        <a:t>Value</a:t>
                      </a:r>
                      <a:endParaRPr b="1" sz="1200"/>
                    </a:p>
                  </a:txBody>
                  <a:tcPr marT="34300" marB="34300" marR="68600" marL="68600" anchor="ctr">
                    <a:solidFill>
                      <a:srgbClr val="D9EAD3"/>
                    </a:solidFill>
                  </a:tcPr>
                </a:tc>
              </a:tr>
              <a:tr h="234775">
                <a:tc>
                  <a:txBody>
                    <a:bodyPr/>
                    <a:lstStyle/>
                    <a:p>
                      <a:pPr indent="0" lvl="0" marL="0" marR="0" rtl="0" algn="l">
                        <a:spcBef>
                          <a:spcPts val="0"/>
                        </a:spcBef>
                        <a:spcAft>
                          <a:spcPts val="0"/>
                        </a:spcAft>
                        <a:buClr>
                          <a:schemeClr val="dk1"/>
                        </a:buClr>
                        <a:buSzPts val="800"/>
                        <a:buFont typeface="Calibri"/>
                        <a:buNone/>
                      </a:pPr>
                      <a:r>
                        <a:rPr lang="en" sz="1200"/>
                        <a:t>Image Type</a:t>
                      </a:r>
                      <a:endParaRPr sz="1200"/>
                    </a:p>
                  </a:txBody>
                  <a:tcPr marT="34300" marB="34300" marR="68600" marL="68600"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200"/>
                        <a:t>JPEG</a:t>
                      </a:r>
                      <a:endParaRPr sz="1200"/>
                    </a:p>
                  </a:txBody>
                  <a:tcPr marT="34300" marB="34300" marR="68600" marL="68600" anchor="ctr">
                    <a:solidFill>
                      <a:srgbClr val="D9EAD3"/>
                    </a:solidFill>
                  </a:tcPr>
                </a:tc>
              </a:tr>
              <a:tr h="234775">
                <a:tc>
                  <a:txBody>
                    <a:bodyPr/>
                    <a:lstStyle/>
                    <a:p>
                      <a:pPr indent="0" lvl="0" marL="0" marR="0" rtl="0" algn="l">
                        <a:spcBef>
                          <a:spcPts val="0"/>
                        </a:spcBef>
                        <a:spcAft>
                          <a:spcPts val="0"/>
                        </a:spcAft>
                        <a:buClr>
                          <a:schemeClr val="dk1"/>
                        </a:buClr>
                        <a:buSzPts val="800"/>
                        <a:buFont typeface="Calibri"/>
                        <a:buNone/>
                      </a:pPr>
                      <a:r>
                        <a:rPr lang="en" sz="1200"/>
                        <a:t>Resolution</a:t>
                      </a:r>
                      <a:endParaRPr sz="1200"/>
                    </a:p>
                  </a:txBody>
                  <a:tcPr marT="34300" marB="34300" marR="68600" marL="68600"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200"/>
                        <a:t>5760 x 3840</a:t>
                      </a:r>
                      <a:endParaRPr sz="1200"/>
                    </a:p>
                  </a:txBody>
                  <a:tcPr marT="34300" marB="34300" marR="68600" marL="68600" anchor="ctr">
                    <a:solidFill>
                      <a:srgbClr val="D9EAD3"/>
                    </a:solidFill>
                  </a:tcPr>
                </a:tc>
              </a:tr>
              <a:tr h="234775">
                <a:tc>
                  <a:txBody>
                    <a:bodyPr/>
                    <a:lstStyle/>
                    <a:p>
                      <a:pPr indent="0" lvl="0" marL="0" marR="0" rtl="0" algn="l">
                        <a:spcBef>
                          <a:spcPts val="0"/>
                        </a:spcBef>
                        <a:spcAft>
                          <a:spcPts val="0"/>
                        </a:spcAft>
                        <a:buClr>
                          <a:schemeClr val="dk1"/>
                        </a:buClr>
                        <a:buSzPts val="800"/>
                        <a:buFont typeface="Calibri"/>
                        <a:buNone/>
                      </a:pPr>
                      <a:r>
                        <a:rPr lang="en" sz="1200"/>
                        <a:t>Format</a:t>
                      </a:r>
                      <a:endParaRPr sz="1200"/>
                    </a:p>
                  </a:txBody>
                  <a:tcPr marT="34300" marB="34300" marR="68600" marL="68600"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200"/>
                        <a:t>JPEG</a:t>
                      </a:r>
                      <a:endParaRPr sz="1200"/>
                    </a:p>
                  </a:txBody>
                  <a:tcPr marT="34300" marB="34300" marR="68600" marL="68600" anchor="ctr">
                    <a:solidFill>
                      <a:srgbClr val="D9EAD3"/>
                    </a:solidFill>
                  </a:tcPr>
                </a:tc>
              </a:tr>
              <a:tr h="234775">
                <a:tc>
                  <a:txBody>
                    <a:bodyPr/>
                    <a:lstStyle/>
                    <a:p>
                      <a:pPr indent="0" lvl="0" marL="0" marR="0" rtl="0" algn="l">
                        <a:spcBef>
                          <a:spcPts val="0"/>
                        </a:spcBef>
                        <a:spcAft>
                          <a:spcPts val="0"/>
                        </a:spcAft>
                        <a:buClr>
                          <a:schemeClr val="dk1"/>
                        </a:buClr>
                        <a:buSzPts val="800"/>
                        <a:buFont typeface="Calibri"/>
                        <a:buNone/>
                      </a:pPr>
                      <a:r>
                        <a:rPr lang="en" sz="1200"/>
                        <a:t>Source</a:t>
                      </a:r>
                      <a:endParaRPr sz="1200"/>
                    </a:p>
                  </a:txBody>
                  <a:tcPr marT="34300" marB="34300" marR="68600" marL="68600"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200"/>
                        <a:t>GITHUB</a:t>
                      </a:r>
                      <a:endParaRPr sz="1200"/>
                    </a:p>
                  </a:txBody>
                  <a:tcPr marT="34300" marB="34300" marR="68600" marL="68600" anchor="ctr">
                    <a:solidFill>
                      <a:srgbClr val="D9EAD3"/>
                    </a:solidFill>
                  </a:tcPr>
                </a:tc>
              </a:tr>
            </a:tbl>
          </a:graphicData>
        </a:graphic>
      </p:graphicFrame>
      <p:sp>
        <p:nvSpPr>
          <p:cNvPr id="134" name="Google Shape;134;p25"/>
          <p:cNvSpPr txBox="1"/>
          <p:nvPr/>
        </p:nvSpPr>
        <p:spPr>
          <a:xfrm>
            <a:off x="332912" y="4122728"/>
            <a:ext cx="88299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300">
                <a:solidFill>
                  <a:schemeClr val="dk1"/>
                </a:solidFill>
                <a:latin typeface="Calibri"/>
                <a:ea typeface="Calibri"/>
                <a:cs typeface="Calibri"/>
                <a:sym typeface="Calibri"/>
              </a:rPr>
              <a:t>Dataset Description :</a:t>
            </a:r>
            <a:endParaRPr sz="1300">
              <a:solidFill>
                <a:schemeClr val="dk1"/>
              </a:solidFill>
              <a:latin typeface="Calibri"/>
              <a:ea typeface="Calibri"/>
              <a:cs typeface="Calibri"/>
              <a:sym typeface="Calibri"/>
            </a:endParaRPr>
          </a:p>
        </p:txBody>
      </p:sp>
      <p:sp>
        <p:nvSpPr>
          <p:cNvPr id="135" name="Google Shape;135;p25"/>
          <p:cNvSpPr txBox="1"/>
          <p:nvPr/>
        </p:nvSpPr>
        <p:spPr>
          <a:xfrm>
            <a:off x="5659194" y="2231205"/>
            <a:ext cx="45732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chemeClr val="dk1"/>
                </a:solidFill>
                <a:latin typeface="Calibri"/>
                <a:ea typeface="Calibri"/>
                <a:cs typeface="Calibri"/>
                <a:sym typeface="Calibri"/>
              </a:rPr>
              <a:t>Visualization</a:t>
            </a:r>
            <a:r>
              <a:rPr lang="en" sz="1400">
                <a:solidFill>
                  <a:schemeClr val="dk1"/>
                </a:solidFill>
                <a:latin typeface="Calibri"/>
                <a:ea typeface="Calibri"/>
                <a:cs typeface="Calibri"/>
                <a:sym typeface="Calibri"/>
              </a:rPr>
              <a:t>:</a:t>
            </a:r>
            <a:endParaRPr sz="1100"/>
          </a:p>
        </p:txBody>
      </p:sp>
      <p:pic>
        <p:nvPicPr>
          <p:cNvPr id="136" name="Google Shape;136;p25"/>
          <p:cNvPicPr preferRelativeResize="0"/>
          <p:nvPr/>
        </p:nvPicPr>
        <p:blipFill>
          <a:blip r:embed="rId3">
            <a:alphaModFix/>
          </a:blip>
          <a:stretch>
            <a:fillRect/>
          </a:stretch>
        </p:blipFill>
        <p:spPr>
          <a:xfrm>
            <a:off x="6933865" y="2231200"/>
            <a:ext cx="1867711" cy="2081124"/>
          </a:xfrm>
          <a:prstGeom prst="rect">
            <a:avLst/>
          </a:prstGeom>
          <a:noFill/>
          <a:ln>
            <a:noFill/>
          </a:ln>
        </p:spPr>
      </p:pic>
      <p:sp>
        <p:nvSpPr>
          <p:cNvPr id="137" name="Google Shape;137;p25"/>
          <p:cNvSpPr txBox="1"/>
          <p:nvPr/>
        </p:nvSpPr>
        <p:spPr>
          <a:xfrm>
            <a:off x="332900" y="4306850"/>
            <a:ext cx="86658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This dataset consists of a single high-resolution JPEG image of a colorful parrot. The image contains strong edges, smooth color gradients, and a wide range of brightness levels. These characteristics make it suitable for testing and comparing different quantization techniques. The parrot’s feathers provide rich color variation, while the background offers smooth areas where compression effects can be easily observed.</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1004425" y="-84456"/>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           Approach Limitation &amp; Code</a:t>
            </a:r>
            <a:endParaRPr/>
          </a:p>
        </p:txBody>
      </p:sp>
      <p:graphicFrame>
        <p:nvGraphicFramePr>
          <p:cNvPr id="143" name="Google Shape;143;p26"/>
          <p:cNvGraphicFramePr/>
          <p:nvPr/>
        </p:nvGraphicFramePr>
        <p:xfrm>
          <a:off x="628650" y="909750"/>
          <a:ext cx="3000000" cy="3000000"/>
        </p:xfrm>
        <a:graphic>
          <a:graphicData uri="http://schemas.openxmlformats.org/drawingml/2006/table">
            <a:tbl>
              <a:tblPr>
                <a:noFill/>
                <a:tableStyleId>{65969A0D-016F-44CF-ACF5-BAA6737E0D2A}</a:tableStyleId>
              </a:tblPr>
              <a:tblGrid>
                <a:gridCol w="1971675"/>
                <a:gridCol w="1971675"/>
                <a:gridCol w="1971675"/>
                <a:gridCol w="1971675"/>
              </a:tblGrid>
              <a:tr h="267750">
                <a:tc>
                  <a:txBody>
                    <a:bodyPr/>
                    <a:lstStyle/>
                    <a:p>
                      <a:pPr indent="0" lvl="0" marL="0" marR="0" rtl="0" algn="l">
                        <a:spcBef>
                          <a:spcPts val="0"/>
                        </a:spcBef>
                        <a:spcAft>
                          <a:spcPts val="0"/>
                        </a:spcAft>
                        <a:buClr>
                          <a:schemeClr val="dk1"/>
                        </a:buClr>
                        <a:buSzPts val="800"/>
                        <a:buFont typeface="Calibri"/>
                        <a:buNone/>
                      </a:pPr>
                      <a:r>
                        <a:rPr lang="en" sz="1200"/>
                        <a:t>No</a:t>
                      </a:r>
                      <a:endParaRPr sz="1200"/>
                    </a:p>
                  </a:txBody>
                  <a:tcPr marT="29275" marB="29275" marR="58525" marL="58525"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200"/>
                        <a:t>Step Name</a:t>
                      </a:r>
                      <a:endParaRPr sz="1200"/>
                    </a:p>
                  </a:txBody>
                  <a:tcPr marT="29275" marB="29275" marR="58525" marL="58525"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200"/>
                        <a:t>Description (Short)</a:t>
                      </a:r>
                      <a:endParaRPr sz="1200"/>
                    </a:p>
                  </a:txBody>
                  <a:tcPr marT="29275" marB="29275" marR="58525" marL="58525"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200"/>
                        <a:t>Code Reference</a:t>
                      </a:r>
                      <a:endParaRPr sz="1200"/>
                    </a:p>
                  </a:txBody>
                  <a:tcPr marT="29275" marB="29275" marR="58525" marL="58525" anchor="ctr">
                    <a:solidFill>
                      <a:srgbClr val="D9EAD3"/>
                    </a:solidFill>
                  </a:tcPr>
                </a:tc>
              </a:tr>
              <a:tr h="1368950">
                <a:tc>
                  <a:txBody>
                    <a:bodyPr/>
                    <a:lstStyle/>
                    <a:p>
                      <a:pPr indent="0" lvl="0" marL="0" marR="0" rtl="0" algn="l">
                        <a:spcBef>
                          <a:spcPts val="0"/>
                        </a:spcBef>
                        <a:spcAft>
                          <a:spcPts val="0"/>
                        </a:spcAft>
                        <a:buClr>
                          <a:schemeClr val="dk1"/>
                        </a:buClr>
                        <a:buSzPts val="800"/>
                        <a:buFont typeface="Calibri"/>
                        <a:buNone/>
                      </a:pPr>
                      <a:r>
                        <a:rPr lang="en" sz="1200"/>
                        <a:t>1</a:t>
                      </a:r>
                      <a:endParaRPr sz="1200"/>
                    </a:p>
                  </a:txBody>
                  <a:tcPr marT="29275" marB="29275" marR="58525" marL="58525"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200"/>
                        <a:t>Desaturation</a:t>
                      </a:r>
                      <a:endParaRPr sz="1200"/>
                    </a:p>
                  </a:txBody>
                  <a:tcPr marT="29275" marB="29275" marR="58525" marL="58525" anchor="ctr">
                    <a:solidFill>
                      <a:srgbClr val="D9EAD3"/>
                    </a:solidFill>
                  </a:tcPr>
                </a:tc>
                <a:tc>
                  <a:txBody>
                    <a:bodyPr/>
                    <a:lstStyle/>
                    <a:p>
                      <a:pPr indent="-298450" lvl="0" marL="457200" marR="0" rtl="0" algn="l">
                        <a:spcBef>
                          <a:spcPts val="0"/>
                        </a:spcBef>
                        <a:spcAft>
                          <a:spcPts val="0"/>
                        </a:spcAft>
                        <a:buSzPts val="1100"/>
                        <a:buChar char="●"/>
                      </a:pPr>
                      <a:r>
                        <a:rPr lang="en" sz="1100"/>
                        <a:t>Converts an RGB image to grey scale by averaging the minimum and maximum channel values. </a:t>
                      </a:r>
                      <a:endParaRPr sz="1100"/>
                    </a:p>
                    <a:p>
                      <a:pPr indent="-298450" lvl="0" marL="457200" marR="0" rtl="0" algn="l">
                        <a:spcBef>
                          <a:spcPts val="0"/>
                        </a:spcBef>
                        <a:spcAft>
                          <a:spcPts val="0"/>
                        </a:spcAft>
                        <a:buSzPts val="1100"/>
                        <a:buChar char="●"/>
                      </a:pPr>
                      <a:r>
                        <a:rPr lang="en" sz="1100"/>
                        <a:t>This reduces the image to brightness values only.</a:t>
                      </a:r>
                      <a:endParaRPr sz="1100"/>
                    </a:p>
                  </a:txBody>
                  <a:tcPr marT="29275" marB="29275" marR="58525" marL="58525" anchor="ctr">
                    <a:solidFill>
                      <a:srgbClr val="D9EAD3"/>
                    </a:solidFill>
                  </a:tcPr>
                </a:tc>
                <a:tc>
                  <a:txBody>
                    <a:bodyPr/>
                    <a:lstStyle/>
                    <a:p>
                      <a:pPr indent="0" lvl="0" marL="0" marR="0" rtl="0" algn="l">
                        <a:lnSpc>
                          <a:spcPct val="100000"/>
                        </a:lnSpc>
                        <a:spcBef>
                          <a:spcPts val="0"/>
                        </a:spcBef>
                        <a:spcAft>
                          <a:spcPts val="0"/>
                        </a:spcAft>
                        <a:buClr>
                          <a:schemeClr val="dk1"/>
                        </a:buClr>
                        <a:buSzPts val="800"/>
                        <a:buFont typeface="Calibri"/>
                        <a:buNone/>
                      </a:pPr>
                      <a:r>
                        <a:rPr lang="en" sz="1200"/>
                        <a:t>GitHub: </a:t>
                      </a:r>
                      <a:r>
                        <a:rPr lang="en" sz="1200" u="sng">
                          <a:solidFill>
                            <a:schemeClr val="hlink"/>
                          </a:solidFill>
                          <a:hlinkClick r:id="rId3"/>
                        </a:rPr>
                        <a:t>https://github.com/Dheebak-12/mulitimedia/tree/main/Q1/Desaturation</a:t>
                      </a:r>
                      <a:endParaRPr sz="1200"/>
                    </a:p>
                    <a:p>
                      <a:pPr indent="0" lvl="0" marL="0" marR="0" rtl="0" algn="l">
                        <a:spcBef>
                          <a:spcPts val="0"/>
                        </a:spcBef>
                        <a:spcAft>
                          <a:spcPts val="0"/>
                        </a:spcAft>
                        <a:buClr>
                          <a:schemeClr val="dk1"/>
                        </a:buClr>
                        <a:buSzPts val="800"/>
                        <a:buFont typeface="Calibri"/>
                        <a:buNone/>
                      </a:pPr>
                      <a:r>
                        <a:t/>
                      </a:r>
                      <a:endParaRPr sz="1200"/>
                    </a:p>
                    <a:p>
                      <a:pPr indent="0" lvl="0" marL="0" marR="0" rtl="0" algn="l">
                        <a:spcBef>
                          <a:spcPts val="0"/>
                        </a:spcBef>
                        <a:spcAft>
                          <a:spcPts val="0"/>
                        </a:spcAft>
                        <a:buClr>
                          <a:schemeClr val="dk1"/>
                        </a:buClr>
                        <a:buSzPts val="800"/>
                        <a:buFont typeface="Calibri"/>
                        <a:buNone/>
                      </a:pPr>
                      <a:r>
                        <a:t/>
                      </a:r>
                      <a:endParaRPr sz="1200"/>
                    </a:p>
                  </a:txBody>
                  <a:tcPr marT="29275" marB="29275" marR="58525" marL="58525" anchor="ctr">
                    <a:solidFill>
                      <a:srgbClr val="D9EAD3"/>
                    </a:solidFill>
                  </a:tcPr>
                </a:tc>
              </a:tr>
              <a:tr h="1062100">
                <a:tc>
                  <a:txBody>
                    <a:bodyPr/>
                    <a:lstStyle/>
                    <a:p>
                      <a:pPr indent="0" lvl="0" marL="0" marR="0" rtl="0" algn="l">
                        <a:spcBef>
                          <a:spcPts val="0"/>
                        </a:spcBef>
                        <a:spcAft>
                          <a:spcPts val="0"/>
                        </a:spcAft>
                        <a:buClr>
                          <a:schemeClr val="dk1"/>
                        </a:buClr>
                        <a:buSzPts val="800"/>
                        <a:buFont typeface="Calibri"/>
                        <a:buNone/>
                      </a:pPr>
                      <a:r>
                        <a:rPr lang="en" sz="1200"/>
                        <a:t>2</a:t>
                      </a:r>
                      <a:endParaRPr sz="1200"/>
                    </a:p>
                  </a:txBody>
                  <a:tcPr marT="29275" marB="29275" marR="58525" marL="58525"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200"/>
                        <a:t>Median Cut</a:t>
                      </a:r>
                      <a:endParaRPr sz="1200"/>
                    </a:p>
                  </a:txBody>
                  <a:tcPr marT="29275" marB="29275" marR="58525" marL="58525" anchor="ctr">
                    <a:solidFill>
                      <a:srgbClr val="D9EAD3"/>
                    </a:solidFill>
                  </a:tcPr>
                </a:tc>
                <a:tc>
                  <a:txBody>
                    <a:bodyPr/>
                    <a:lstStyle/>
                    <a:p>
                      <a:pPr indent="-298450" lvl="0" marL="457200" marR="0" rtl="0" algn="l">
                        <a:spcBef>
                          <a:spcPts val="0"/>
                        </a:spcBef>
                        <a:spcAft>
                          <a:spcPts val="0"/>
                        </a:spcAft>
                        <a:buSzPts val="1100"/>
                        <a:buChar char="●"/>
                      </a:pPr>
                      <a:r>
                        <a:rPr lang="en" sz="1100"/>
                        <a:t>divides pixels into boxes with equal pixel counts, producing smoother tonal regions.</a:t>
                      </a:r>
                      <a:endParaRPr sz="1200"/>
                    </a:p>
                  </a:txBody>
                  <a:tcPr marT="29275" marB="29275" marR="58525" marL="58525" anchor="ctr">
                    <a:solidFill>
                      <a:srgbClr val="D9EAD3"/>
                    </a:solidFill>
                  </a:tcPr>
                </a:tc>
                <a:tc>
                  <a:txBody>
                    <a:bodyPr/>
                    <a:lstStyle/>
                    <a:p>
                      <a:pPr indent="0" lvl="0" marL="0" marR="0" rtl="0" algn="l">
                        <a:lnSpc>
                          <a:spcPct val="100000"/>
                        </a:lnSpc>
                        <a:spcBef>
                          <a:spcPts val="0"/>
                        </a:spcBef>
                        <a:spcAft>
                          <a:spcPts val="0"/>
                        </a:spcAft>
                        <a:buClr>
                          <a:schemeClr val="dk1"/>
                        </a:buClr>
                        <a:buSzPts val="800"/>
                        <a:buFont typeface="Calibri"/>
                        <a:buNone/>
                      </a:pPr>
                      <a:r>
                        <a:t/>
                      </a:r>
                      <a:endParaRPr sz="1200"/>
                    </a:p>
                    <a:p>
                      <a:pPr indent="0" lvl="0" marL="0" marR="0" rtl="0" algn="l">
                        <a:lnSpc>
                          <a:spcPct val="100000"/>
                        </a:lnSpc>
                        <a:spcBef>
                          <a:spcPts val="0"/>
                        </a:spcBef>
                        <a:spcAft>
                          <a:spcPts val="0"/>
                        </a:spcAft>
                        <a:buClr>
                          <a:schemeClr val="dk1"/>
                        </a:buClr>
                        <a:buSzPts val="800"/>
                        <a:buFont typeface="Calibri"/>
                        <a:buNone/>
                      </a:pPr>
                      <a:r>
                        <a:rPr lang="en" sz="1200"/>
                        <a:t>GitHub:</a:t>
                      </a:r>
                      <a:endParaRPr sz="1200" u="sng">
                        <a:solidFill>
                          <a:schemeClr val="hlink"/>
                        </a:solidFill>
                        <a:hlinkClick r:id="rId4"/>
                      </a:endParaRPr>
                    </a:p>
                    <a:p>
                      <a:pPr indent="0" lvl="0" marL="0" marR="0" rtl="0" algn="l">
                        <a:spcBef>
                          <a:spcPts val="0"/>
                        </a:spcBef>
                        <a:spcAft>
                          <a:spcPts val="0"/>
                        </a:spcAft>
                        <a:buClr>
                          <a:schemeClr val="dk1"/>
                        </a:buClr>
                        <a:buSzPts val="800"/>
                        <a:buFont typeface="Calibri"/>
                        <a:buNone/>
                      </a:pPr>
                      <a:r>
                        <a:rPr lang="en" sz="1200" u="sng">
                          <a:solidFill>
                            <a:schemeClr val="hlink"/>
                          </a:solidFill>
                          <a:hlinkClick r:id="rId5"/>
                        </a:rPr>
                        <a:t>https://github.com/Dheebak-12/mulitimedia/tree/main/Q1/Median_cut</a:t>
                      </a:r>
                      <a:endParaRPr sz="1200"/>
                    </a:p>
                    <a:p>
                      <a:pPr indent="0" lvl="0" marL="0" marR="0" rtl="0" algn="l">
                        <a:spcBef>
                          <a:spcPts val="0"/>
                        </a:spcBef>
                        <a:spcAft>
                          <a:spcPts val="0"/>
                        </a:spcAft>
                        <a:buClr>
                          <a:schemeClr val="dk1"/>
                        </a:buClr>
                        <a:buSzPts val="800"/>
                        <a:buFont typeface="Calibri"/>
                        <a:buNone/>
                      </a:pPr>
                      <a:r>
                        <a:t/>
                      </a:r>
                      <a:endParaRPr sz="1200"/>
                    </a:p>
                  </a:txBody>
                  <a:tcPr marT="29275" marB="29275" marR="58525" marL="58525" anchor="ctr">
                    <a:solidFill>
                      <a:srgbClr val="D9EAD3"/>
                    </a:solidFill>
                  </a:tcPr>
                </a:tc>
              </a:tr>
              <a:tr h="989750">
                <a:tc>
                  <a:txBody>
                    <a:bodyPr/>
                    <a:lstStyle/>
                    <a:p>
                      <a:pPr indent="0" lvl="0" marL="0" marR="0" rtl="0" algn="l">
                        <a:spcBef>
                          <a:spcPts val="0"/>
                        </a:spcBef>
                        <a:spcAft>
                          <a:spcPts val="0"/>
                        </a:spcAft>
                        <a:buClr>
                          <a:schemeClr val="dk1"/>
                        </a:buClr>
                        <a:buSzPts val="800"/>
                        <a:buFont typeface="Calibri"/>
                        <a:buNone/>
                      </a:pPr>
                      <a:r>
                        <a:rPr lang="en" sz="1200"/>
                        <a:t>3</a:t>
                      </a:r>
                      <a:endParaRPr sz="1200"/>
                    </a:p>
                  </a:txBody>
                  <a:tcPr marT="29275" marB="29275" marR="58525" marL="58525"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200"/>
                        <a:t>Octree (L1, L2)</a:t>
                      </a:r>
                      <a:endParaRPr sz="1200"/>
                    </a:p>
                  </a:txBody>
                  <a:tcPr marT="29275" marB="29275" marR="58525" marL="58525" anchor="ctr">
                    <a:solidFill>
                      <a:srgbClr val="D9EAD3"/>
                    </a:solidFill>
                  </a:tcPr>
                </a:tc>
                <a:tc>
                  <a:txBody>
                    <a:bodyPr/>
                    <a:lstStyle/>
                    <a:p>
                      <a:pPr indent="-298450" lvl="0" marL="457200" marR="0" rtl="0" algn="l">
                        <a:spcBef>
                          <a:spcPts val="0"/>
                        </a:spcBef>
                        <a:spcAft>
                          <a:spcPts val="0"/>
                        </a:spcAft>
                        <a:buSzPts val="1100"/>
                        <a:buChar char="●"/>
                      </a:pPr>
                      <a:r>
                        <a:rPr lang="en" sz="1100"/>
                        <a:t>stores colors in an octree structure and merges similar colors. </a:t>
                      </a:r>
                      <a:endParaRPr sz="1100"/>
                    </a:p>
                    <a:p>
                      <a:pPr indent="-298450" lvl="0" marL="457200" marR="0" rtl="0" algn="l">
                        <a:spcBef>
                          <a:spcPts val="0"/>
                        </a:spcBef>
                        <a:spcAft>
                          <a:spcPts val="0"/>
                        </a:spcAft>
                        <a:buSzPts val="1100"/>
                        <a:buChar char="●"/>
                      </a:pPr>
                      <a:r>
                        <a:rPr lang="en" sz="1100"/>
                        <a:t>It preserves edges better than Median Cut.</a:t>
                      </a:r>
                      <a:endParaRPr sz="1100"/>
                    </a:p>
                  </a:txBody>
                  <a:tcPr marT="29275" marB="29275" marR="58525" marL="58525" anchor="ctr">
                    <a:solidFill>
                      <a:srgbClr val="D9EAD3"/>
                    </a:solidFill>
                  </a:tcPr>
                </a:tc>
                <a:tc>
                  <a:txBody>
                    <a:bodyPr/>
                    <a:lstStyle/>
                    <a:p>
                      <a:pPr indent="0" lvl="0" marL="0" marR="0" rtl="0" algn="l">
                        <a:lnSpc>
                          <a:spcPct val="100000"/>
                        </a:lnSpc>
                        <a:spcBef>
                          <a:spcPts val="0"/>
                        </a:spcBef>
                        <a:spcAft>
                          <a:spcPts val="0"/>
                        </a:spcAft>
                        <a:buClr>
                          <a:schemeClr val="dk1"/>
                        </a:buClr>
                        <a:buSzPts val="800"/>
                        <a:buFont typeface="Calibri"/>
                        <a:buNone/>
                      </a:pPr>
                      <a:r>
                        <a:rPr lang="en" sz="1200"/>
                        <a:t>GitHub:</a:t>
                      </a:r>
                      <a:endParaRPr sz="1200"/>
                    </a:p>
                    <a:p>
                      <a:pPr indent="0" lvl="0" marL="0" marR="0" rtl="0" algn="l">
                        <a:lnSpc>
                          <a:spcPct val="100000"/>
                        </a:lnSpc>
                        <a:spcBef>
                          <a:spcPts val="0"/>
                        </a:spcBef>
                        <a:spcAft>
                          <a:spcPts val="0"/>
                        </a:spcAft>
                        <a:buClr>
                          <a:schemeClr val="dk1"/>
                        </a:buClr>
                        <a:buSzPts val="800"/>
                        <a:buFont typeface="Calibri"/>
                        <a:buNone/>
                      </a:pPr>
                      <a:r>
                        <a:rPr lang="en" sz="1200" u="sng">
                          <a:solidFill>
                            <a:schemeClr val="hlink"/>
                          </a:solidFill>
                          <a:hlinkClick r:id="rId6"/>
                        </a:rPr>
                        <a:t>https://github.com/Dheebak-12/mulitimedia/tree/main/Q1/Octree</a:t>
                      </a:r>
                      <a:endParaRPr sz="1200"/>
                    </a:p>
                    <a:p>
                      <a:pPr indent="0" lvl="0" marL="0" marR="0" rtl="0" algn="l">
                        <a:spcBef>
                          <a:spcPts val="0"/>
                        </a:spcBef>
                        <a:spcAft>
                          <a:spcPts val="0"/>
                        </a:spcAft>
                        <a:buClr>
                          <a:schemeClr val="dk1"/>
                        </a:buClr>
                        <a:buSzPts val="800"/>
                        <a:buFont typeface="Calibri"/>
                        <a:buNone/>
                      </a:pPr>
                      <a:r>
                        <a:t/>
                      </a:r>
                      <a:endParaRPr sz="1200"/>
                    </a:p>
                    <a:p>
                      <a:pPr indent="0" lvl="0" marL="0" marR="0" rtl="0" algn="l">
                        <a:spcBef>
                          <a:spcPts val="0"/>
                        </a:spcBef>
                        <a:spcAft>
                          <a:spcPts val="0"/>
                        </a:spcAft>
                        <a:buClr>
                          <a:schemeClr val="dk1"/>
                        </a:buClr>
                        <a:buSzPts val="800"/>
                        <a:buFont typeface="Calibri"/>
                        <a:buNone/>
                      </a:pPr>
                      <a:r>
                        <a:t/>
                      </a:r>
                      <a:endParaRPr sz="1200"/>
                    </a:p>
                  </a:txBody>
                  <a:tcPr marT="29275" marB="29275" marR="58525" marL="58525" anchor="ctr">
                    <a:solidFill>
                      <a:srgbClr val="D9EAD3"/>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txBox="1"/>
          <p:nvPr>
            <p:ph type="title"/>
          </p:nvPr>
        </p:nvSpPr>
        <p:spPr>
          <a:xfrm>
            <a:off x="1634100" y="-187300"/>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Empirical Results &amp; Commentary</a:t>
            </a:r>
            <a:endParaRPr/>
          </a:p>
        </p:txBody>
      </p:sp>
      <p:sp>
        <p:nvSpPr>
          <p:cNvPr id="149" name="Google Shape;149;p27"/>
          <p:cNvSpPr txBox="1"/>
          <p:nvPr>
            <p:ph idx="1" type="body"/>
          </p:nvPr>
        </p:nvSpPr>
        <p:spPr>
          <a:xfrm>
            <a:off x="0" y="2232595"/>
            <a:ext cx="9144000" cy="2910900"/>
          </a:xfrm>
          <a:prstGeom prst="rect">
            <a:avLst/>
          </a:prstGeom>
          <a:noFill/>
          <a:ln>
            <a:noFill/>
          </a:ln>
        </p:spPr>
        <p:txBody>
          <a:bodyPr anchorCtr="0" anchor="t" bIns="34275" lIns="68575" spcFirstLastPara="1" rIns="68575" wrap="square" tIns="34275">
            <a:normAutofit/>
          </a:bodyPr>
          <a:lstStyle/>
          <a:p>
            <a:pPr indent="0" lvl="0" marL="177800" rtl="0" algn="l">
              <a:lnSpc>
                <a:spcPct val="90000"/>
              </a:lnSpc>
              <a:spcBef>
                <a:spcPts val="0"/>
              </a:spcBef>
              <a:spcAft>
                <a:spcPts val="0"/>
              </a:spcAft>
              <a:buNone/>
            </a:pPr>
            <a:r>
              <a:t/>
            </a:r>
            <a:endParaRPr/>
          </a:p>
          <a:p>
            <a:pPr indent="0" lvl="0" marL="177800" rtl="0" algn="l">
              <a:lnSpc>
                <a:spcPct val="90000"/>
              </a:lnSpc>
              <a:spcBef>
                <a:spcPts val="0"/>
              </a:spcBef>
              <a:spcAft>
                <a:spcPts val="0"/>
              </a:spcAft>
              <a:buNone/>
            </a:pPr>
            <a:r>
              <a:rPr lang="en"/>
              <a:t>COMMENTARY</a:t>
            </a:r>
            <a:endParaRPr/>
          </a:p>
          <a:p>
            <a:pPr indent="-38100" lvl="0" marL="177800" rtl="0" algn="l">
              <a:lnSpc>
                <a:spcPct val="90000"/>
              </a:lnSpc>
              <a:spcBef>
                <a:spcPts val="800"/>
              </a:spcBef>
              <a:spcAft>
                <a:spcPts val="0"/>
              </a:spcAft>
              <a:buClr>
                <a:schemeClr val="dk1"/>
              </a:buClr>
              <a:buSzPts val="2100"/>
              <a:buNone/>
            </a:pPr>
            <a:r>
              <a:t/>
            </a:r>
            <a:endParaRPr/>
          </a:p>
          <a:p>
            <a:pPr indent="-38100" lvl="0" marL="177800" rtl="0" algn="l">
              <a:lnSpc>
                <a:spcPct val="90000"/>
              </a:lnSpc>
              <a:spcBef>
                <a:spcPts val="800"/>
              </a:spcBef>
              <a:spcAft>
                <a:spcPts val="0"/>
              </a:spcAft>
              <a:buClr>
                <a:schemeClr val="dk1"/>
              </a:buClr>
              <a:buSzPts val="2100"/>
              <a:buNone/>
            </a:pPr>
            <a:r>
              <a:t/>
            </a:r>
            <a:endParaRPr/>
          </a:p>
        </p:txBody>
      </p:sp>
      <p:sp>
        <p:nvSpPr>
          <p:cNvPr id="150" name="Google Shape;150;p27"/>
          <p:cNvSpPr txBox="1"/>
          <p:nvPr/>
        </p:nvSpPr>
        <p:spPr>
          <a:xfrm>
            <a:off x="0" y="566827"/>
            <a:ext cx="5486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Calibri"/>
                <a:ea typeface="Calibri"/>
                <a:cs typeface="Calibri"/>
                <a:sym typeface="Calibri"/>
              </a:rPr>
              <a:t>Greyscale via Desaturation</a:t>
            </a:r>
            <a:endParaRPr sz="1100"/>
          </a:p>
        </p:txBody>
      </p:sp>
      <p:sp>
        <p:nvSpPr>
          <p:cNvPr id="151" name="Google Shape;151;p27"/>
          <p:cNvSpPr txBox="1"/>
          <p:nvPr/>
        </p:nvSpPr>
        <p:spPr>
          <a:xfrm>
            <a:off x="3504100" y="566824"/>
            <a:ext cx="46635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Calibri"/>
                <a:ea typeface="Calibri"/>
                <a:cs typeface="Calibri"/>
                <a:sym typeface="Calibri"/>
              </a:rPr>
              <a:t>Median Cut</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
                <a:solidFill>
                  <a:schemeClr val="dk1"/>
                </a:solidFill>
                <a:latin typeface="Calibri"/>
                <a:ea typeface="Calibri"/>
                <a:cs typeface="Calibri"/>
                <a:sym typeface="Calibri"/>
              </a:rPr>
              <a:t>Max color=5</a:t>
            </a:r>
            <a:endParaRPr>
              <a:solidFill>
                <a:schemeClr val="dk1"/>
              </a:solidFill>
              <a:latin typeface="Calibri"/>
              <a:ea typeface="Calibri"/>
              <a:cs typeface="Calibri"/>
              <a:sym typeface="Calibri"/>
            </a:endParaRPr>
          </a:p>
        </p:txBody>
      </p:sp>
      <p:sp>
        <p:nvSpPr>
          <p:cNvPr id="152" name="Google Shape;152;p27"/>
          <p:cNvSpPr txBox="1"/>
          <p:nvPr/>
        </p:nvSpPr>
        <p:spPr>
          <a:xfrm>
            <a:off x="6633775" y="391125"/>
            <a:ext cx="24741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a:solidFill>
                <a:schemeClr val="dk1"/>
              </a:solidFill>
              <a:latin typeface="Calibri"/>
              <a:ea typeface="Calibri"/>
              <a:cs typeface="Calibri"/>
              <a:sym typeface="Calibri"/>
            </a:endParaRPr>
          </a:p>
          <a:p>
            <a:pPr indent="0" lvl="0" marL="0" marR="0" rtl="0" algn="l">
              <a:spcBef>
                <a:spcPts val="0"/>
              </a:spcBef>
              <a:spcAft>
                <a:spcPts val="0"/>
              </a:spcAft>
              <a:buNone/>
            </a:pPr>
            <a:r>
              <a:rPr lang="en" sz="1400">
                <a:solidFill>
                  <a:schemeClr val="dk1"/>
                </a:solidFill>
                <a:latin typeface="Calibri"/>
                <a:ea typeface="Calibri"/>
                <a:cs typeface="Calibri"/>
                <a:sym typeface="Calibri"/>
              </a:rPr>
              <a:t>Octree Quantization </a:t>
            </a:r>
            <a:endParaRPr sz="1100"/>
          </a:p>
        </p:txBody>
      </p:sp>
      <p:sp>
        <p:nvSpPr>
          <p:cNvPr id="153" name="Google Shape;153;p27"/>
          <p:cNvSpPr txBox="1"/>
          <p:nvPr/>
        </p:nvSpPr>
        <p:spPr>
          <a:xfrm>
            <a:off x="5539080" y="589918"/>
            <a:ext cx="46635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154" name="Google Shape;154;p27"/>
          <p:cNvSpPr txBox="1"/>
          <p:nvPr/>
        </p:nvSpPr>
        <p:spPr>
          <a:xfrm>
            <a:off x="6633775" y="589925"/>
            <a:ext cx="13050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a:solidFill>
                <a:schemeClr val="dk1"/>
              </a:solidFill>
              <a:latin typeface="Calibri"/>
              <a:ea typeface="Calibri"/>
              <a:cs typeface="Calibri"/>
              <a:sym typeface="Calibri"/>
            </a:endParaRPr>
          </a:p>
          <a:p>
            <a:pPr indent="0" lvl="0" marL="0" marR="0" rtl="0" algn="l">
              <a:spcBef>
                <a:spcPts val="0"/>
              </a:spcBef>
              <a:spcAft>
                <a:spcPts val="0"/>
              </a:spcAft>
              <a:buNone/>
            </a:pPr>
            <a:r>
              <a:rPr lang="en">
                <a:solidFill>
                  <a:schemeClr val="dk1"/>
                </a:solidFill>
                <a:latin typeface="Calibri"/>
                <a:ea typeface="Calibri"/>
                <a:cs typeface="Calibri"/>
                <a:sym typeface="Calibri"/>
              </a:rPr>
              <a:t>Max color=30</a:t>
            </a:r>
            <a:endParaRPr sz="1100"/>
          </a:p>
        </p:txBody>
      </p:sp>
      <p:sp>
        <p:nvSpPr>
          <p:cNvPr id="155" name="Google Shape;155;p27"/>
          <p:cNvSpPr txBox="1"/>
          <p:nvPr/>
        </p:nvSpPr>
        <p:spPr>
          <a:xfrm>
            <a:off x="185250" y="2721175"/>
            <a:ext cx="8424000" cy="12408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desaturation method removes color by averaging the lightest and darkest RGB channels.</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The result keeps the cat’s facial details but loses all color information, giving a smooth grey appearance.</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Median Cut reduces the number of colors by splitting the pixel values into equal groups.</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This produces a softer-looking image where smooth areas (like fur) blend well, but some fine details become slightly muted.</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Octree quantization groups similar colors while preserving strong edges.</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output image looks very close to the original, with clear edges around the cat’s face and only slight reduction in color variety.</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method keeps structure and sharpness better than Median Cut.</a:t>
            </a:r>
            <a:endParaRPr sz="1200">
              <a:solidFill>
                <a:schemeClr val="dk1"/>
              </a:solidFill>
              <a:latin typeface="Calibri"/>
              <a:ea typeface="Calibri"/>
              <a:cs typeface="Calibri"/>
              <a:sym typeface="Calibri"/>
            </a:endParaRPr>
          </a:p>
        </p:txBody>
      </p:sp>
      <p:pic>
        <p:nvPicPr>
          <p:cNvPr id="156" name="Google Shape;156;p27" title="gray_lightness_forloop.jpg"/>
          <p:cNvPicPr preferRelativeResize="0"/>
          <p:nvPr/>
        </p:nvPicPr>
        <p:blipFill>
          <a:blip r:embed="rId3">
            <a:alphaModFix/>
          </a:blip>
          <a:stretch>
            <a:fillRect/>
          </a:stretch>
        </p:blipFill>
        <p:spPr>
          <a:xfrm>
            <a:off x="248677" y="1006125"/>
            <a:ext cx="1650576" cy="1430458"/>
          </a:xfrm>
          <a:prstGeom prst="rect">
            <a:avLst/>
          </a:prstGeom>
          <a:noFill/>
          <a:ln>
            <a:noFill/>
          </a:ln>
        </p:spPr>
      </p:pic>
      <p:sp>
        <p:nvSpPr>
          <p:cNvPr id="157" name="Google Shape;157;p27"/>
          <p:cNvSpPr txBox="1"/>
          <p:nvPr/>
        </p:nvSpPr>
        <p:spPr>
          <a:xfrm>
            <a:off x="3403025" y="1100575"/>
            <a:ext cx="1009800" cy="23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pic>
        <p:nvPicPr>
          <p:cNvPr id="158" name="Google Shape;158;p27" title="output_octree.jpg"/>
          <p:cNvPicPr preferRelativeResize="0"/>
          <p:nvPr/>
        </p:nvPicPr>
        <p:blipFill>
          <a:blip r:embed="rId4">
            <a:alphaModFix/>
          </a:blip>
          <a:stretch>
            <a:fillRect/>
          </a:stretch>
        </p:blipFill>
        <p:spPr>
          <a:xfrm>
            <a:off x="6517025" y="1090979"/>
            <a:ext cx="1650576" cy="1430449"/>
          </a:xfrm>
          <a:prstGeom prst="rect">
            <a:avLst/>
          </a:prstGeom>
          <a:noFill/>
          <a:ln>
            <a:noFill/>
          </a:ln>
        </p:spPr>
      </p:pic>
      <p:pic>
        <p:nvPicPr>
          <p:cNvPr id="159" name="Google Shape;159;p27" title="output_median_cut.jpg"/>
          <p:cNvPicPr preferRelativeResize="0"/>
          <p:nvPr/>
        </p:nvPicPr>
        <p:blipFill>
          <a:blip r:embed="rId5">
            <a:alphaModFix/>
          </a:blip>
          <a:stretch>
            <a:fillRect/>
          </a:stretch>
        </p:blipFill>
        <p:spPr>
          <a:xfrm>
            <a:off x="3239938" y="1071125"/>
            <a:ext cx="1650576" cy="14304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200575" y="11"/>
            <a:ext cx="7886700" cy="526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Calibri"/>
              <a:buNone/>
            </a:pPr>
            <a:r>
              <a:rPr lang="en"/>
              <a:t>                                Code Snippets</a:t>
            </a:r>
            <a:endParaRPr/>
          </a:p>
        </p:txBody>
      </p:sp>
      <p:sp>
        <p:nvSpPr>
          <p:cNvPr id="165" name="Google Shape;165;p28"/>
          <p:cNvSpPr txBox="1"/>
          <p:nvPr>
            <p:ph idx="1" type="body"/>
          </p:nvPr>
        </p:nvSpPr>
        <p:spPr>
          <a:xfrm rot="818">
            <a:off x="200568" y="4125828"/>
            <a:ext cx="1260600" cy="473100"/>
          </a:xfrm>
          <a:prstGeom prst="rect">
            <a:avLst/>
          </a:prstGeom>
          <a:noFill/>
          <a:ln>
            <a:noFill/>
          </a:ln>
        </p:spPr>
        <p:txBody>
          <a:bodyPr anchorCtr="0" anchor="t" bIns="34275" lIns="68575" spcFirstLastPara="1" rIns="68575" wrap="square" tIns="34275">
            <a:normAutofit fontScale="77500"/>
          </a:bodyPr>
          <a:lstStyle/>
          <a:p>
            <a:pPr indent="0" lvl="0" marL="177800" rtl="0" algn="l">
              <a:lnSpc>
                <a:spcPct val="70000"/>
              </a:lnSpc>
              <a:spcBef>
                <a:spcPts val="0"/>
              </a:spcBef>
              <a:spcAft>
                <a:spcPts val="0"/>
              </a:spcAft>
              <a:buNone/>
            </a:pPr>
            <a:r>
              <a:rPr b="1" lang="en" sz="1700"/>
              <a:t>REFERENCES</a:t>
            </a:r>
            <a:r>
              <a:rPr lang="en" sz="1700"/>
              <a:t> </a:t>
            </a:r>
            <a:endParaRPr sz="1700"/>
          </a:p>
          <a:p>
            <a:pPr indent="-38100" lvl="0" marL="177800" rtl="0" algn="l">
              <a:lnSpc>
                <a:spcPct val="70000"/>
              </a:lnSpc>
              <a:spcBef>
                <a:spcPts val="800"/>
              </a:spcBef>
              <a:spcAft>
                <a:spcPts val="0"/>
              </a:spcAft>
              <a:buClr>
                <a:schemeClr val="dk1"/>
              </a:buClr>
              <a:buSzPct val="123529"/>
              <a:buNone/>
            </a:pPr>
            <a:r>
              <a:t/>
            </a:r>
            <a:endParaRPr sz="1700"/>
          </a:p>
        </p:txBody>
      </p:sp>
      <p:sp>
        <p:nvSpPr>
          <p:cNvPr id="166" name="Google Shape;166;p28"/>
          <p:cNvSpPr txBox="1"/>
          <p:nvPr/>
        </p:nvSpPr>
        <p:spPr>
          <a:xfrm>
            <a:off x="0" y="510779"/>
            <a:ext cx="4572000" cy="47320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rgbClr val="000000"/>
                </a:solidFill>
                <a:latin typeface="Calibri"/>
                <a:ea typeface="Calibri"/>
                <a:cs typeface="Calibri"/>
                <a:sym typeface="Calibri"/>
              </a:rPr>
              <a:t>1. Greyscale via Desaturation</a:t>
            </a:r>
            <a:endParaRPr sz="1500">
              <a:solidFill>
                <a:schemeClr val="dk1"/>
              </a:solidFill>
              <a:latin typeface="Calibri"/>
              <a:ea typeface="Calibri"/>
              <a:cs typeface="Calibri"/>
              <a:sym typeface="Calibri"/>
            </a:endParaRPr>
          </a:p>
          <a:p>
            <a:pPr indent="-266700" lvl="0" marL="266700" marR="0" rtl="0" algn="l">
              <a:spcBef>
                <a:spcPts val="500"/>
              </a:spcBef>
              <a:spcAft>
                <a:spcPts val="0"/>
              </a:spcAft>
              <a:buClr>
                <a:schemeClr val="dk1"/>
              </a:buClr>
              <a:buSzPts val="800"/>
              <a:buFont typeface="Calibri"/>
              <a:buNone/>
            </a:pPr>
            <a:r>
              <a:t/>
            </a:r>
            <a:endParaRPr sz="800">
              <a:solidFill>
                <a:srgbClr val="000000"/>
              </a:solidFill>
              <a:latin typeface="Calibri"/>
              <a:ea typeface="Calibri"/>
              <a:cs typeface="Calibri"/>
              <a:sym typeface="Calibri"/>
            </a:endParaRPr>
          </a:p>
        </p:txBody>
      </p:sp>
      <p:sp>
        <p:nvSpPr>
          <p:cNvPr id="167" name="Google Shape;167;p28"/>
          <p:cNvSpPr txBox="1"/>
          <p:nvPr/>
        </p:nvSpPr>
        <p:spPr>
          <a:xfrm>
            <a:off x="3303270" y="510779"/>
            <a:ext cx="459486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400"/>
              <a:buFont typeface="Calibri"/>
              <a:buNone/>
            </a:pPr>
            <a:r>
              <a:rPr b="1" lang="en" sz="1400">
                <a:solidFill>
                  <a:schemeClr val="dk1"/>
                </a:solidFill>
                <a:latin typeface="Calibri"/>
                <a:ea typeface="Calibri"/>
                <a:cs typeface="Calibri"/>
                <a:sym typeface="Calibri"/>
              </a:rPr>
              <a:t>2.Median Cut Quantization</a:t>
            </a:r>
            <a:endParaRPr sz="1100"/>
          </a:p>
        </p:txBody>
      </p:sp>
      <p:sp>
        <p:nvSpPr>
          <p:cNvPr id="168" name="Google Shape;168;p28"/>
          <p:cNvSpPr txBox="1"/>
          <p:nvPr/>
        </p:nvSpPr>
        <p:spPr>
          <a:xfrm>
            <a:off x="6046470" y="527414"/>
            <a:ext cx="459486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400"/>
              <a:buFont typeface="Calibri"/>
              <a:buNone/>
            </a:pPr>
            <a:r>
              <a:rPr b="1" lang="en" sz="1400">
                <a:solidFill>
                  <a:schemeClr val="dk1"/>
                </a:solidFill>
                <a:latin typeface="Calibri"/>
                <a:ea typeface="Calibri"/>
                <a:cs typeface="Calibri"/>
                <a:sym typeface="Calibri"/>
              </a:rPr>
              <a:t>3. Octree Quantization </a:t>
            </a:r>
            <a:endParaRPr b="1" sz="1400">
              <a:solidFill>
                <a:schemeClr val="dk1"/>
              </a:solidFill>
              <a:latin typeface="Calibri"/>
              <a:ea typeface="Calibri"/>
              <a:cs typeface="Calibri"/>
              <a:sym typeface="Calibri"/>
            </a:endParaRPr>
          </a:p>
        </p:txBody>
      </p:sp>
      <p:sp>
        <p:nvSpPr>
          <p:cNvPr id="169" name="Google Shape;169;p28"/>
          <p:cNvSpPr txBox="1"/>
          <p:nvPr/>
        </p:nvSpPr>
        <p:spPr>
          <a:xfrm>
            <a:off x="2565000" y="4013800"/>
            <a:ext cx="6522000" cy="130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800">
                <a:solidFill>
                  <a:schemeClr val="dk1"/>
                </a:solidFill>
                <a:latin typeface="Calibri"/>
                <a:ea typeface="Calibri"/>
                <a:cs typeface="Calibri"/>
                <a:sym typeface="Calibri"/>
              </a:rPr>
              <a:t>1. Greyscale via Desaturation:</a:t>
            </a:r>
            <a:endParaRPr sz="1100"/>
          </a:p>
          <a:p>
            <a:pPr indent="0" lvl="0" marL="0" marR="0" rtl="0" algn="l">
              <a:spcBef>
                <a:spcPts val="0"/>
              </a:spcBef>
              <a:spcAft>
                <a:spcPts val="0"/>
              </a:spcAft>
              <a:buNone/>
            </a:pPr>
            <a:r>
              <a:rPr lang="en" sz="800">
                <a:solidFill>
                  <a:schemeClr val="dk1"/>
                </a:solidFill>
                <a:latin typeface="Calibri"/>
                <a:ea typeface="Calibri"/>
                <a:cs typeface="Calibri"/>
                <a:sym typeface="Calibri"/>
              </a:rPr>
              <a:t>			 </a:t>
            </a:r>
            <a:r>
              <a:rPr lang="en" sz="800" u="sng">
                <a:solidFill>
                  <a:schemeClr val="hlink"/>
                </a:solidFill>
                <a:latin typeface="Calibri"/>
                <a:ea typeface="Calibri"/>
                <a:cs typeface="Calibri"/>
                <a:sym typeface="Calibri"/>
                <a:hlinkClick r:id="rId3"/>
              </a:rPr>
              <a:t>https://tannerhelland.com/2011/10/01/grayscale-image-algorithm-vb6.html</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lang="en" sz="800">
                <a:solidFill>
                  <a:schemeClr val="dk1"/>
                </a:solidFill>
                <a:latin typeface="Calibri"/>
                <a:ea typeface="Calibri"/>
                <a:cs typeface="Calibri"/>
                <a:sym typeface="Calibri"/>
              </a:rPr>
              <a:t>2.Median Cut:</a:t>
            </a:r>
            <a:endParaRPr sz="1100"/>
          </a:p>
          <a:p>
            <a:pPr indent="0" lvl="0" marL="0" marR="0" rtl="0" algn="l">
              <a:spcBef>
                <a:spcPts val="0"/>
              </a:spcBef>
              <a:spcAft>
                <a:spcPts val="0"/>
              </a:spcAft>
              <a:buNone/>
            </a:pPr>
            <a:r>
              <a:rPr lang="en" sz="800">
                <a:solidFill>
                  <a:schemeClr val="dk1"/>
                </a:solidFill>
                <a:latin typeface="Calibri"/>
                <a:ea typeface="Calibri"/>
                <a:cs typeface="Calibri"/>
                <a:sym typeface="Calibri"/>
              </a:rPr>
              <a:t>			 </a:t>
            </a:r>
            <a:r>
              <a:rPr lang="en" sz="800" u="sng">
                <a:solidFill>
                  <a:schemeClr val="hlink"/>
                </a:solidFill>
                <a:latin typeface="Calibri"/>
                <a:ea typeface="Calibri"/>
                <a:cs typeface="Calibri"/>
                <a:sym typeface="Calibri"/>
                <a:hlinkClick r:id="rId4"/>
              </a:rPr>
              <a:t>https://github.com/Chadys/QuantizeImageMethods</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lang="en" sz="800">
                <a:solidFill>
                  <a:schemeClr val="dk1"/>
                </a:solidFill>
                <a:latin typeface="Calibri"/>
                <a:ea typeface="Calibri"/>
                <a:cs typeface="Calibri"/>
                <a:sym typeface="Calibri"/>
              </a:rPr>
              <a:t>3. Octree:</a:t>
            </a:r>
            <a:endParaRPr sz="1100"/>
          </a:p>
          <a:p>
            <a:pPr indent="0" lvl="0" marL="0" marR="0" rtl="0" algn="l">
              <a:spcBef>
                <a:spcPts val="0"/>
              </a:spcBef>
              <a:spcAft>
                <a:spcPts val="0"/>
              </a:spcAft>
              <a:buNone/>
            </a:pPr>
            <a:r>
              <a:rPr lang="en" sz="800">
                <a:solidFill>
                  <a:schemeClr val="dk1"/>
                </a:solidFill>
                <a:latin typeface="Calibri"/>
                <a:ea typeface="Calibri"/>
                <a:cs typeface="Calibri"/>
                <a:sym typeface="Calibri"/>
              </a:rPr>
              <a:t>			 </a:t>
            </a:r>
            <a:r>
              <a:rPr lang="en" sz="800" u="sng">
                <a:solidFill>
                  <a:schemeClr val="hlink"/>
                </a:solidFill>
                <a:latin typeface="Calibri"/>
                <a:ea typeface="Calibri"/>
                <a:cs typeface="Calibri"/>
                <a:sym typeface="Calibri"/>
                <a:hlinkClick r:id="rId5"/>
              </a:rPr>
              <a:t>https://www.cg.tuwien.ac.at/research/publications/1988/purgathofer-1988-simple/purgathofer-1988-simple-Paper.PDF</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lang="en" sz="800">
                <a:solidFill>
                  <a:schemeClr val="dk1"/>
                </a:solidFill>
                <a:latin typeface="Calibri"/>
                <a:ea typeface="Calibri"/>
                <a:cs typeface="Calibri"/>
                <a:sym typeface="Calibri"/>
              </a:rPr>
              <a:t>			 </a:t>
            </a:r>
            <a:r>
              <a:rPr lang="en" sz="800" u="sng">
                <a:solidFill>
                  <a:schemeClr val="hlink"/>
                </a:solidFill>
                <a:latin typeface="Calibri"/>
                <a:ea typeface="Calibri"/>
                <a:cs typeface="Calibri"/>
                <a:sym typeface="Calibri"/>
                <a:hlinkClick r:id="rId6"/>
              </a:rPr>
              <a:t>https://observablehq.com/@tmcw/octree-color-quantization</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800">
              <a:solidFill>
                <a:schemeClr val="dk1"/>
              </a:solidFill>
              <a:latin typeface="Calibri"/>
              <a:ea typeface="Calibri"/>
              <a:cs typeface="Calibri"/>
              <a:sym typeface="Calibri"/>
            </a:endParaRPr>
          </a:p>
        </p:txBody>
      </p:sp>
      <p:sp>
        <p:nvSpPr>
          <p:cNvPr id="170" name="Google Shape;170;p28"/>
          <p:cNvSpPr txBox="1"/>
          <p:nvPr/>
        </p:nvSpPr>
        <p:spPr>
          <a:xfrm>
            <a:off x="126300" y="820675"/>
            <a:ext cx="3177000" cy="24936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000"/>
              <a:t>from PIL import Image</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Clr>
                <a:schemeClr val="dk1"/>
              </a:buClr>
              <a:buSzPts val="1100"/>
              <a:buFont typeface="Arial"/>
              <a:buNone/>
            </a:pPr>
            <a:r>
              <a:rPr lang="en" sz="1000"/>
              <a:t>img = Image.open("input.jpg")</a:t>
            </a:r>
            <a:endParaRPr sz="1000"/>
          </a:p>
          <a:p>
            <a:pPr indent="0" lvl="0" marL="0" rtl="0" algn="l">
              <a:spcBef>
                <a:spcPts val="0"/>
              </a:spcBef>
              <a:spcAft>
                <a:spcPts val="0"/>
              </a:spcAft>
              <a:buClr>
                <a:schemeClr val="dk1"/>
              </a:buClr>
              <a:buSzPts val="1100"/>
              <a:buFont typeface="Arial"/>
              <a:buNone/>
            </a:pPr>
            <a:r>
              <a:rPr lang="en" sz="1000"/>
              <a:t>w, h = img.size</a:t>
            </a:r>
            <a:endParaRPr sz="1000"/>
          </a:p>
          <a:p>
            <a:pPr indent="0" lvl="0" marL="0" rtl="0" algn="l">
              <a:spcBef>
                <a:spcPts val="0"/>
              </a:spcBef>
              <a:spcAft>
                <a:spcPts val="0"/>
              </a:spcAft>
              <a:buClr>
                <a:schemeClr val="dk1"/>
              </a:buClr>
              <a:buSzPts val="1100"/>
              <a:buFont typeface="Arial"/>
              <a:buNone/>
            </a:pPr>
            <a:r>
              <a:rPr lang="en" sz="1000"/>
              <a:t>out = Image.new("L", (w, h))</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Clr>
                <a:schemeClr val="dk1"/>
              </a:buClr>
              <a:buSzPts val="1100"/>
              <a:buFont typeface="Arial"/>
              <a:buNone/>
            </a:pPr>
            <a:r>
              <a:rPr lang="en" sz="1000"/>
              <a:t>for y in range(h):</a:t>
            </a:r>
            <a:endParaRPr sz="1000"/>
          </a:p>
          <a:p>
            <a:pPr indent="0" lvl="0" marL="0" rtl="0" algn="l">
              <a:spcBef>
                <a:spcPts val="0"/>
              </a:spcBef>
              <a:spcAft>
                <a:spcPts val="0"/>
              </a:spcAft>
              <a:buClr>
                <a:schemeClr val="dk1"/>
              </a:buClr>
              <a:buSzPts val="1100"/>
              <a:buFont typeface="Arial"/>
              <a:buNone/>
            </a:pPr>
            <a:r>
              <a:rPr lang="en" sz="1000"/>
              <a:t>    for x in range(w):</a:t>
            </a:r>
            <a:endParaRPr sz="1000"/>
          </a:p>
          <a:p>
            <a:pPr indent="0" lvl="0" marL="0" rtl="0" algn="l">
              <a:spcBef>
                <a:spcPts val="0"/>
              </a:spcBef>
              <a:spcAft>
                <a:spcPts val="0"/>
              </a:spcAft>
              <a:buClr>
                <a:schemeClr val="dk1"/>
              </a:buClr>
              <a:buSzPts val="1100"/>
              <a:buFont typeface="Arial"/>
              <a:buNone/>
            </a:pPr>
            <a:r>
              <a:rPr lang="en" sz="1000"/>
              <a:t>      r, g, b = img.getpixel((x, y))</a:t>
            </a:r>
            <a:endParaRPr sz="1000"/>
          </a:p>
          <a:p>
            <a:pPr indent="0" lvl="0" marL="0" rtl="0" algn="l">
              <a:spcBef>
                <a:spcPts val="0"/>
              </a:spcBef>
              <a:spcAft>
                <a:spcPts val="0"/>
              </a:spcAft>
              <a:buClr>
                <a:schemeClr val="dk1"/>
              </a:buClr>
              <a:buSzPts val="1100"/>
              <a:buFont typeface="Arial"/>
              <a:buNone/>
            </a:pPr>
            <a:r>
              <a:rPr lang="en" sz="1000"/>
              <a:t>      out.putpixel((x, y), (max(r, g, b) + min(r, g, b)) // 2)</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Clr>
                <a:schemeClr val="dk1"/>
              </a:buClr>
              <a:buSzPts val="1100"/>
              <a:buFont typeface="Arial"/>
              <a:buNone/>
            </a:pPr>
            <a:r>
              <a:rPr lang="en" sz="1000"/>
              <a:t>out.save("gray_lightness.jpg")</a:t>
            </a:r>
            <a:endParaRPr sz="1000"/>
          </a:p>
          <a:p>
            <a:pPr indent="0" lvl="0" marL="0" rtl="0" algn="l">
              <a:spcBef>
                <a:spcPts val="0"/>
              </a:spcBef>
              <a:spcAft>
                <a:spcPts val="0"/>
              </a:spcAft>
              <a:buClr>
                <a:schemeClr val="dk1"/>
              </a:buClr>
              <a:buSzPts val="1100"/>
              <a:buFont typeface="Arial"/>
              <a:buNone/>
            </a:pPr>
            <a:r>
              <a:rPr lang="en" sz="1000"/>
              <a:t>print("Done")</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None/>
            </a:pPr>
            <a:r>
              <a:t/>
            </a:r>
            <a:endParaRPr sz="1000"/>
          </a:p>
        </p:txBody>
      </p:sp>
      <p:sp>
        <p:nvSpPr>
          <p:cNvPr id="171" name="Google Shape;171;p28"/>
          <p:cNvSpPr txBox="1"/>
          <p:nvPr/>
        </p:nvSpPr>
        <p:spPr>
          <a:xfrm>
            <a:off x="3547788" y="841675"/>
            <a:ext cx="2254200" cy="29553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from PIL import Image</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def apply_median_cut(src, dst, max_colors):</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img = Image.open(src).convert("RGB")</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reduced = img.quantize(colors=max_colors, method=0).convert("RGB")</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reduced.save(dst)</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print("Saved:", dst)</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max_colors = int(input("Enter max colors: "))</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apply_median_cut("input.jpg", "output_median_cut.jpg", max_colors)</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p:txBody>
      </p:sp>
      <p:sp>
        <p:nvSpPr>
          <p:cNvPr id="172" name="Google Shape;172;p28"/>
          <p:cNvSpPr txBox="1"/>
          <p:nvPr/>
        </p:nvSpPr>
        <p:spPr>
          <a:xfrm>
            <a:off x="6222125" y="968725"/>
            <a:ext cx="2807400" cy="24936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from PIL import Image</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def apply_octree(src, dst, max_colors):</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img = Image.open(src).convert("RGB")</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reduced = img.quantize(colors=max_colors, method=2).convert("RGB")</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reduced.save(dst)</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print("Saved:", dst)</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max_colors = int(input("Enter max colors: "))</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apply_octree("input.jpg", "output_octree.jpg", max_colors)</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type="ctrTitle"/>
          </p:nvPr>
        </p:nvSpPr>
        <p:spPr>
          <a:xfrm>
            <a:off x="1143000" y="110613"/>
            <a:ext cx="6858000" cy="634200"/>
          </a:xfrm>
          <a:prstGeom prst="rect">
            <a:avLst/>
          </a:prstGeom>
          <a:noFill/>
          <a:ln>
            <a:noFill/>
          </a:ln>
        </p:spPr>
        <p:txBody>
          <a:bodyPr anchorCtr="0" anchor="b" bIns="34275" lIns="68575" spcFirstLastPara="1" rIns="68575" wrap="square" tIns="34275">
            <a:normAutofit fontScale="90000"/>
          </a:bodyPr>
          <a:lstStyle/>
          <a:p>
            <a:pPr indent="0" lvl="0" marL="0" rtl="0" algn="l">
              <a:spcBef>
                <a:spcPts val="0"/>
              </a:spcBef>
              <a:spcAft>
                <a:spcPts val="0"/>
              </a:spcAft>
              <a:buClr>
                <a:schemeClr val="dk1"/>
              </a:buClr>
              <a:buSzPct val="136363"/>
              <a:buFont typeface="Calibri"/>
              <a:buNone/>
            </a:pPr>
            <a:r>
              <a:rPr lang="en" sz="3300"/>
              <a:t>Problem 2: Rate - distortion quantization</a:t>
            </a:r>
            <a:endParaRPr/>
          </a:p>
        </p:txBody>
      </p:sp>
      <p:sp>
        <p:nvSpPr>
          <p:cNvPr id="178" name="Google Shape;178;p29"/>
          <p:cNvSpPr txBox="1"/>
          <p:nvPr/>
        </p:nvSpPr>
        <p:spPr>
          <a:xfrm>
            <a:off x="4816585" y="900950"/>
            <a:ext cx="45732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a:solidFill>
                  <a:schemeClr val="dk1"/>
                </a:solidFill>
                <a:latin typeface="Calibri"/>
                <a:ea typeface="Calibri"/>
                <a:cs typeface="Calibri"/>
                <a:sym typeface="Calibri"/>
              </a:rPr>
              <a:t>Tabularization :</a:t>
            </a:r>
            <a:endParaRPr b="1" sz="1100"/>
          </a:p>
        </p:txBody>
      </p:sp>
      <p:graphicFrame>
        <p:nvGraphicFramePr>
          <p:cNvPr id="179" name="Google Shape;179;p29"/>
          <p:cNvGraphicFramePr/>
          <p:nvPr/>
        </p:nvGraphicFramePr>
        <p:xfrm>
          <a:off x="4816570" y="1341786"/>
          <a:ext cx="3000000" cy="3000000"/>
        </p:xfrm>
        <a:graphic>
          <a:graphicData uri="http://schemas.openxmlformats.org/drawingml/2006/table">
            <a:tbl>
              <a:tblPr>
                <a:noFill/>
                <a:tableStyleId>{65969A0D-016F-44CF-ACF5-BAA6737E0D2A}</a:tableStyleId>
              </a:tblPr>
              <a:tblGrid>
                <a:gridCol w="2085550"/>
                <a:gridCol w="2126350"/>
              </a:tblGrid>
              <a:tr h="172175">
                <a:tc>
                  <a:txBody>
                    <a:bodyPr/>
                    <a:lstStyle/>
                    <a:p>
                      <a:pPr indent="0" lvl="0" marL="0" marR="0" rtl="0" algn="l">
                        <a:spcBef>
                          <a:spcPts val="0"/>
                        </a:spcBef>
                        <a:spcAft>
                          <a:spcPts val="0"/>
                        </a:spcAft>
                        <a:buClr>
                          <a:schemeClr val="dk1"/>
                        </a:buClr>
                        <a:buSzPts val="800"/>
                        <a:buFont typeface="Calibri"/>
                        <a:buNone/>
                      </a:pPr>
                      <a:r>
                        <a:rPr b="1" lang="en" sz="1200"/>
                        <a:t>Property</a:t>
                      </a:r>
                      <a:endParaRPr b="1" sz="1200"/>
                    </a:p>
                  </a:txBody>
                  <a:tcPr marT="34300" marB="34300" marR="68600" marL="68600"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b="1" lang="en" sz="1200"/>
                        <a:t>value</a:t>
                      </a:r>
                      <a:endParaRPr b="1" sz="1200"/>
                    </a:p>
                  </a:txBody>
                  <a:tcPr marT="34300" marB="34300" marR="68600" marL="68600" anchor="ctr">
                    <a:solidFill>
                      <a:srgbClr val="D9EAD3"/>
                    </a:solidFill>
                  </a:tcPr>
                </a:tc>
              </a:tr>
              <a:tr h="283500">
                <a:tc>
                  <a:txBody>
                    <a:bodyPr/>
                    <a:lstStyle/>
                    <a:p>
                      <a:pPr indent="0" lvl="0" marL="0" rtl="0" algn="l">
                        <a:spcBef>
                          <a:spcPts val="0"/>
                        </a:spcBef>
                        <a:spcAft>
                          <a:spcPts val="0"/>
                        </a:spcAft>
                        <a:buClr>
                          <a:schemeClr val="dk1"/>
                        </a:buClr>
                        <a:buSzPts val="800"/>
                        <a:buFont typeface="Calibri"/>
                        <a:buNone/>
                      </a:pPr>
                      <a:r>
                        <a:rPr lang="en" sz="1200"/>
                        <a:t>Resolution</a:t>
                      </a:r>
                      <a:endParaRPr sz="1200"/>
                    </a:p>
                  </a:txBody>
                  <a:tcPr marT="34300" marB="34300" marR="68600" marL="68600" anchor="ctr">
                    <a:solidFill>
                      <a:srgbClr val="D9EAD3"/>
                    </a:solidFill>
                  </a:tcPr>
                </a:tc>
                <a:tc>
                  <a:txBody>
                    <a:bodyPr/>
                    <a:lstStyle/>
                    <a:p>
                      <a:pPr indent="0" lvl="0" marL="0" rtl="0" algn="l">
                        <a:spcBef>
                          <a:spcPts val="0"/>
                        </a:spcBef>
                        <a:spcAft>
                          <a:spcPts val="0"/>
                        </a:spcAft>
                        <a:buClr>
                          <a:schemeClr val="dk1"/>
                        </a:buClr>
                        <a:buSzPts val="800"/>
                        <a:buFont typeface="Calibri"/>
                        <a:buNone/>
                      </a:pPr>
                      <a:r>
                        <a:rPr lang="en" sz="1200"/>
                        <a:t>272 x 185</a:t>
                      </a:r>
                      <a:endParaRPr sz="1200"/>
                    </a:p>
                    <a:p>
                      <a:pPr indent="0" lvl="0" marL="0" marR="0" rtl="0" algn="l">
                        <a:spcBef>
                          <a:spcPts val="0"/>
                        </a:spcBef>
                        <a:spcAft>
                          <a:spcPts val="0"/>
                        </a:spcAft>
                        <a:buClr>
                          <a:schemeClr val="dk1"/>
                        </a:buClr>
                        <a:buSzPts val="800"/>
                        <a:buFont typeface="Calibri"/>
                        <a:buNone/>
                      </a:pPr>
                      <a:r>
                        <a:t/>
                      </a:r>
                      <a:endParaRPr sz="1200"/>
                    </a:p>
                  </a:txBody>
                  <a:tcPr marT="34300" marB="34300" marR="68600" marL="68600" anchor="ctr">
                    <a:solidFill>
                      <a:srgbClr val="D9EAD3"/>
                    </a:solidFill>
                  </a:tcPr>
                </a:tc>
              </a:tr>
              <a:tr h="172175">
                <a:tc>
                  <a:txBody>
                    <a:bodyPr/>
                    <a:lstStyle/>
                    <a:p>
                      <a:pPr indent="0" lvl="0" marL="0" marR="0" rtl="0" algn="l">
                        <a:spcBef>
                          <a:spcPts val="0"/>
                        </a:spcBef>
                        <a:spcAft>
                          <a:spcPts val="0"/>
                        </a:spcAft>
                        <a:buClr>
                          <a:schemeClr val="dk1"/>
                        </a:buClr>
                        <a:buSzPts val="800"/>
                        <a:buFont typeface="Calibri"/>
                        <a:buNone/>
                      </a:pPr>
                      <a:r>
                        <a:rPr lang="en" sz="1200"/>
                        <a:t>Image type</a:t>
                      </a:r>
                      <a:endParaRPr sz="1200"/>
                    </a:p>
                  </a:txBody>
                  <a:tcPr marT="34300" marB="34300" marR="68600" marL="68600" anchor="ctr">
                    <a:solidFill>
                      <a:srgbClr val="D9EAD3"/>
                    </a:solidFill>
                  </a:tcPr>
                </a:tc>
                <a:tc>
                  <a:txBody>
                    <a:bodyPr/>
                    <a:lstStyle/>
                    <a:p>
                      <a:pPr indent="0" lvl="0" marL="0" rtl="0" algn="l">
                        <a:spcBef>
                          <a:spcPts val="0"/>
                        </a:spcBef>
                        <a:spcAft>
                          <a:spcPts val="0"/>
                        </a:spcAft>
                        <a:buClr>
                          <a:schemeClr val="dk1"/>
                        </a:buClr>
                        <a:buSzPts val="800"/>
                        <a:buFont typeface="Calibri"/>
                        <a:buNone/>
                      </a:pPr>
                      <a:r>
                        <a:rPr lang="en" sz="1200"/>
                        <a:t>PNG</a:t>
                      </a:r>
                      <a:endParaRPr sz="1200"/>
                    </a:p>
                  </a:txBody>
                  <a:tcPr marT="34300" marB="34300" marR="68600" marL="68600" anchor="ctr">
                    <a:solidFill>
                      <a:srgbClr val="D9EAD3"/>
                    </a:solidFill>
                  </a:tcPr>
                </a:tc>
              </a:tr>
              <a:tr h="172175">
                <a:tc>
                  <a:txBody>
                    <a:bodyPr/>
                    <a:lstStyle/>
                    <a:p>
                      <a:pPr indent="0" lvl="0" marL="0" marR="0" rtl="0" algn="l">
                        <a:spcBef>
                          <a:spcPts val="0"/>
                        </a:spcBef>
                        <a:spcAft>
                          <a:spcPts val="0"/>
                        </a:spcAft>
                        <a:buClr>
                          <a:schemeClr val="dk1"/>
                        </a:buClr>
                        <a:buSzPts val="800"/>
                        <a:buFont typeface="Calibri"/>
                        <a:buNone/>
                      </a:pPr>
                      <a:r>
                        <a:rPr lang="en" sz="1200"/>
                        <a:t>Color type</a:t>
                      </a:r>
                      <a:endParaRPr sz="1200"/>
                    </a:p>
                  </a:txBody>
                  <a:tcPr marT="34300" marB="34300" marR="68600" marL="68600"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200"/>
                        <a:t>RGB</a:t>
                      </a:r>
                      <a:endParaRPr sz="1200"/>
                    </a:p>
                  </a:txBody>
                  <a:tcPr marT="34300" marB="34300" marR="68600" marL="68600" anchor="ctr">
                    <a:solidFill>
                      <a:srgbClr val="D9EAD3"/>
                    </a:solidFill>
                  </a:tcPr>
                </a:tc>
              </a:tr>
              <a:tr h="283500">
                <a:tc>
                  <a:txBody>
                    <a:bodyPr/>
                    <a:lstStyle/>
                    <a:p>
                      <a:pPr indent="0" lvl="0" marL="0" rtl="0" algn="l">
                        <a:spcBef>
                          <a:spcPts val="0"/>
                        </a:spcBef>
                        <a:spcAft>
                          <a:spcPts val="0"/>
                        </a:spcAft>
                        <a:buClr>
                          <a:schemeClr val="dk1"/>
                        </a:buClr>
                        <a:buSzPts val="1100"/>
                        <a:buFont typeface="Arial"/>
                        <a:buNone/>
                      </a:pPr>
                      <a:r>
                        <a:rPr lang="en" sz="1200"/>
                        <a:t>Task</a:t>
                      </a:r>
                      <a:endParaRPr sz="1200"/>
                    </a:p>
                  </a:txBody>
                  <a:tcPr marT="34300" marB="34300" marR="68600" marL="68600"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200"/>
                        <a:t>Rate Distortion </a:t>
                      </a:r>
                      <a:r>
                        <a:rPr lang="en" sz="1200"/>
                        <a:t>based</a:t>
                      </a:r>
                      <a:r>
                        <a:rPr lang="en" sz="1200"/>
                        <a:t> color Quantization</a:t>
                      </a:r>
                      <a:endParaRPr sz="1200"/>
                    </a:p>
                  </a:txBody>
                  <a:tcPr marT="34300" marB="34300" marR="68600" marL="68600" anchor="ctr">
                    <a:solidFill>
                      <a:srgbClr val="D9EAD3"/>
                    </a:solidFill>
                  </a:tcPr>
                </a:tc>
              </a:tr>
            </a:tbl>
          </a:graphicData>
        </a:graphic>
      </p:graphicFrame>
      <p:sp>
        <p:nvSpPr>
          <p:cNvPr id="180" name="Google Shape;180;p29"/>
          <p:cNvSpPr txBox="1"/>
          <p:nvPr/>
        </p:nvSpPr>
        <p:spPr>
          <a:xfrm>
            <a:off x="202050" y="3985175"/>
            <a:ext cx="19878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latin typeface="Calibri"/>
                <a:ea typeface="Calibri"/>
                <a:cs typeface="Calibri"/>
                <a:sym typeface="Calibri"/>
              </a:rPr>
              <a:t>Data Source:</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input image  :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(RGB color photo)</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b="1"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p:txBody>
      </p:sp>
      <p:sp>
        <p:nvSpPr>
          <p:cNvPr id="181" name="Google Shape;181;p29"/>
          <p:cNvSpPr txBox="1"/>
          <p:nvPr/>
        </p:nvSpPr>
        <p:spPr>
          <a:xfrm>
            <a:off x="0" y="744825"/>
            <a:ext cx="4686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Rate–Distortion quantization balances image quality and bit-rate.</a:t>
            </a:r>
            <a:br>
              <a:rPr lang="en" sz="1100">
                <a:solidFill>
                  <a:schemeClr val="dk1"/>
                </a:solidFill>
                <a:latin typeface="Calibri"/>
                <a:ea typeface="Calibri"/>
                <a:cs typeface="Calibri"/>
                <a:sym typeface="Calibri"/>
              </a:rPr>
            </a:b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K-Means groups pixels into K color clusters using color distance.</a:t>
            </a:r>
            <a:br>
              <a:rPr lang="en" sz="1100">
                <a:solidFill>
                  <a:schemeClr val="dk1"/>
                </a:solidFill>
                <a:latin typeface="Calibri"/>
                <a:ea typeface="Calibri"/>
                <a:cs typeface="Calibri"/>
                <a:sym typeface="Calibri"/>
              </a:rPr>
            </a:b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Distortion is measured as the squared difference between a pixel and its centroid.</a:t>
            </a:r>
            <a:br>
              <a:rPr lang="en" sz="1100">
                <a:solidFill>
                  <a:schemeClr val="dk1"/>
                </a:solidFill>
                <a:latin typeface="Calibri"/>
                <a:ea typeface="Calibri"/>
                <a:cs typeface="Calibri"/>
                <a:sym typeface="Calibri"/>
              </a:rPr>
            </a:b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Rate is computed from cluster usage probability (R = −log₂(p)).</a:t>
            </a:r>
            <a:br>
              <a:rPr lang="en" sz="1100">
                <a:solidFill>
                  <a:schemeClr val="dk1"/>
                </a:solidFill>
                <a:latin typeface="Calibri"/>
                <a:ea typeface="Calibri"/>
                <a:cs typeface="Calibri"/>
                <a:sym typeface="Calibri"/>
              </a:rPr>
            </a:b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RD-KMeans adds a rate penalty λR to control compression strength.</a:t>
            </a:r>
            <a:br>
              <a:rPr lang="en" sz="1100">
                <a:solidFill>
                  <a:schemeClr val="dk1"/>
                </a:solidFill>
                <a:latin typeface="Calibri"/>
                <a:ea typeface="Calibri"/>
                <a:cs typeface="Calibri"/>
                <a:sym typeface="Calibri"/>
              </a:rPr>
            </a:b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Small λ favors quality; large λ forces stronger compression.</a:t>
            </a:r>
            <a:br>
              <a:rPr lang="en" sz="1100">
                <a:solidFill>
                  <a:schemeClr val="dk1"/>
                </a:solidFill>
                <a:latin typeface="Calibri"/>
                <a:ea typeface="Calibri"/>
                <a:cs typeface="Calibri"/>
                <a:sym typeface="Calibri"/>
              </a:rPr>
            </a:b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Pixels join the cluster with the lowest RD cost each iteration.</a:t>
            </a:r>
            <a:br>
              <a:rPr lang="en" sz="1100">
                <a:solidFill>
                  <a:schemeClr val="dk1"/>
                </a:solidFill>
                <a:latin typeface="Calibri"/>
                <a:ea typeface="Calibri"/>
                <a:cs typeface="Calibri"/>
                <a:sym typeface="Calibri"/>
              </a:rPr>
            </a:b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Centroids update using the average color of assigned pixels.</a:t>
            </a:r>
            <a:br>
              <a:rPr lang="en" sz="1100">
                <a:solidFill>
                  <a:schemeClr val="dk1"/>
                </a:solidFill>
                <a:latin typeface="Calibri"/>
                <a:ea typeface="Calibri"/>
                <a:cs typeface="Calibri"/>
                <a:sym typeface="Calibri"/>
              </a:rPr>
            </a:b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final image shows how λ affects palette size, quality, and bit-rate.</a:t>
            </a:r>
            <a:endParaRPr sz="11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100">
              <a:solidFill>
                <a:schemeClr val="dk1"/>
              </a:solidFill>
              <a:latin typeface="Calibri"/>
              <a:ea typeface="Calibri"/>
              <a:cs typeface="Calibri"/>
              <a:sym typeface="Calibri"/>
            </a:endParaRPr>
          </a:p>
        </p:txBody>
      </p:sp>
      <p:pic>
        <p:nvPicPr>
          <p:cNvPr id="182" name="Google Shape;182;p29"/>
          <p:cNvPicPr preferRelativeResize="0"/>
          <p:nvPr/>
        </p:nvPicPr>
        <p:blipFill>
          <a:blip r:embed="rId3">
            <a:alphaModFix/>
          </a:blip>
          <a:stretch>
            <a:fillRect/>
          </a:stretch>
        </p:blipFill>
        <p:spPr>
          <a:xfrm>
            <a:off x="5016150" y="3561850"/>
            <a:ext cx="2165925" cy="1391925"/>
          </a:xfrm>
          <a:prstGeom prst="rect">
            <a:avLst/>
          </a:prstGeom>
          <a:noFill/>
          <a:ln>
            <a:noFill/>
          </a:ln>
        </p:spPr>
      </p:pic>
      <p:sp>
        <p:nvSpPr>
          <p:cNvPr id="183" name="Google Shape;183;p29"/>
          <p:cNvSpPr txBox="1"/>
          <p:nvPr/>
        </p:nvSpPr>
        <p:spPr>
          <a:xfrm>
            <a:off x="4816575" y="3121025"/>
            <a:ext cx="642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Calibri"/>
                <a:ea typeface="Calibri"/>
                <a:cs typeface="Calibri"/>
                <a:sym typeface="Calibri"/>
              </a:rPr>
              <a:t>Visualization</a:t>
            </a:r>
            <a:r>
              <a:rPr b="1" lang="en">
                <a:solidFill>
                  <a:schemeClr val="dk1"/>
                </a:solidFill>
                <a:latin typeface="Calibri"/>
                <a:ea typeface="Calibri"/>
                <a:cs typeface="Calibri"/>
                <a:sym typeface="Calibri"/>
              </a:rPr>
              <a:t>:</a:t>
            </a:r>
            <a:endParaRPr b="1">
              <a:solidFill>
                <a:schemeClr val="dk1"/>
              </a:solidFill>
              <a:latin typeface="Calibri"/>
              <a:ea typeface="Calibri"/>
              <a:cs typeface="Calibri"/>
              <a:sym typeface="Calibri"/>
            </a:endParaRPr>
          </a:p>
        </p:txBody>
      </p:sp>
      <p:sp>
        <p:nvSpPr>
          <p:cNvPr id="184" name="Google Shape;184;p29"/>
          <p:cNvSpPr txBox="1"/>
          <p:nvPr/>
        </p:nvSpPr>
        <p:spPr>
          <a:xfrm>
            <a:off x="1854400" y="3985175"/>
            <a:ext cx="28791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100">
                <a:solidFill>
                  <a:schemeClr val="dk1"/>
                </a:solidFill>
                <a:latin typeface="Calibri"/>
                <a:ea typeface="Calibri"/>
                <a:cs typeface="Calibri"/>
                <a:sym typeface="Calibri"/>
              </a:rPr>
              <a:t>Data Description :</a:t>
            </a:r>
            <a:endParaRPr b="1"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The diverse colors and textures allow clear observation of how rate and distortion shift with λ (trade off parameter)</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628650" y="-218856"/>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               Approach Limitation &amp; Code</a:t>
            </a:r>
            <a:endParaRPr/>
          </a:p>
        </p:txBody>
      </p:sp>
      <p:graphicFrame>
        <p:nvGraphicFramePr>
          <p:cNvPr id="190" name="Google Shape;190;p30"/>
          <p:cNvGraphicFramePr/>
          <p:nvPr/>
        </p:nvGraphicFramePr>
        <p:xfrm>
          <a:off x="406550" y="502425"/>
          <a:ext cx="3000000" cy="3000000"/>
        </p:xfrm>
        <a:graphic>
          <a:graphicData uri="http://schemas.openxmlformats.org/drawingml/2006/table">
            <a:tbl>
              <a:tblPr>
                <a:noFill/>
                <a:tableStyleId>{B232A72E-F56A-41D7-BB1C-4E4CB0485944}</a:tableStyleId>
              </a:tblPr>
              <a:tblGrid>
                <a:gridCol w="2979525"/>
                <a:gridCol w="3242225"/>
                <a:gridCol w="2218925"/>
              </a:tblGrid>
              <a:tr h="488550">
                <a:tc>
                  <a:txBody>
                    <a:bodyPr/>
                    <a:lstStyle/>
                    <a:p>
                      <a:pPr indent="0" lvl="0" marL="0" rtl="0" algn="l">
                        <a:spcBef>
                          <a:spcPts val="0"/>
                        </a:spcBef>
                        <a:spcAft>
                          <a:spcPts val="0"/>
                        </a:spcAft>
                        <a:buClr>
                          <a:schemeClr val="dk1"/>
                        </a:buClr>
                        <a:buSzPts val="1100"/>
                        <a:buFont typeface="Arial"/>
                        <a:buNone/>
                      </a:pPr>
                      <a:r>
                        <a:rPr lang="en" sz="2100">
                          <a:solidFill>
                            <a:schemeClr val="dk1"/>
                          </a:solidFill>
                          <a:latin typeface="Calibri"/>
                          <a:ea typeface="Calibri"/>
                          <a:cs typeface="Calibri"/>
                          <a:sym typeface="Calibri"/>
                        </a:rPr>
                        <a:t>Approach : </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Clr>
                          <a:schemeClr val="dk1"/>
                        </a:buClr>
                        <a:buSzPts val="1100"/>
                        <a:buFont typeface="Arial"/>
                        <a:buNone/>
                      </a:pPr>
                      <a:r>
                        <a:rPr lang="en" sz="2100">
                          <a:solidFill>
                            <a:schemeClr val="dk1"/>
                          </a:solidFill>
                          <a:latin typeface="Calibri"/>
                          <a:ea typeface="Calibri"/>
                          <a:cs typeface="Calibri"/>
                          <a:sym typeface="Calibri"/>
                        </a:rPr>
                        <a:t>Description :  </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Clr>
                          <a:schemeClr val="dk1"/>
                        </a:buClr>
                        <a:buSzPts val="1100"/>
                        <a:buFont typeface="Arial"/>
                        <a:buNone/>
                      </a:pPr>
                      <a:r>
                        <a:rPr lang="en" sz="2200">
                          <a:solidFill>
                            <a:schemeClr val="dk1"/>
                          </a:solidFill>
                          <a:latin typeface="Calibri"/>
                          <a:ea typeface="Calibri"/>
                          <a:cs typeface="Calibri"/>
                          <a:sym typeface="Calibri"/>
                        </a:rPr>
                        <a:t>Code Reference:</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r>
              <a:tr h="335850">
                <a:tc>
                  <a:txBody>
                    <a:bodyPr/>
                    <a:lstStyle/>
                    <a:p>
                      <a:pPr indent="0" lvl="0" marL="0" rtl="0" algn="l">
                        <a:lnSpc>
                          <a:spcPct val="115000"/>
                        </a:lnSpc>
                        <a:spcBef>
                          <a:spcPts val="1200"/>
                        </a:spcBef>
                        <a:spcAft>
                          <a:spcPts val="1200"/>
                        </a:spcAft>
                        <a:buNone/>
                      </a:pPr>
                      <a:r>
                        <a:rPr lang="en" sz="1000">
                          <a:solidFill>
                            <a:schemeClr val="dk1"/>
                          </a:solidFill>
                          <a:latin typeface="Calibri"/>
                          <a:ea typeface="Calibri"/>
                          <a:cs typeface="Calibri"/>
                          <a:sym typeface="Calibri"/>
                        </a:rPr>
                        <a:t>1. Load the image</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000">
                          <a:solidFill>
                            <a:schemeClr val="dk1"/>
                          </a:solidFill>
                        </a:rPr>
                        <a:t>The program loads the input image.</a:t>
                      </a:r>
                      <a:endParaRPr sz="1000">
                        <a:solidFill>
                          <a:schemeClr val="dk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rowSpan="8">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200" u="sng">
                          <a:solidFill>
                            <a:schemeClr val="hlink"/>
                          </a:solidFill>
                          <a:hlinkClick r:id="rId3"/>
                        </a:rPr>
                        <a:t>https://github.com/Dheebak-12/mulitimedia/tree/main/Q2/Rate_distortion_quantization</a:t>
                      </a:r>
                      <a:endParaRPr sz="1200">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r>
              <a:tr h="335850">
                <a:tc>
                  <a:txBody>
                    <a:bodyPr/>
                    <a:lstStyle/>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Calibri"/>
                          <a:ea typeface="Calibri"/>
                          <a:cs typeface="Calibri"/>
                          <a:sym typeface="Calibri"/>
                        </a:rPr>
                        <a:t>2. Choose how many colors (K) you want</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000">
                          <a:solidFill>
                            <a:schemeClr val="dk1"/>
                          </a:solidFill>
                        </a:rPr>
                        <a:t>You select K values (like 2, 4, 8, 16).</a:t>
                      </a:r>
                      <a:endParaRPr sz="1000">
                        <a:solidFill>
                          <a:schemeClr val="dk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vMerge="1"/>
              </a:tr>
              <a:tr h="459825">
                <a:tc>
                  <a:txBody>
                    <a:bodyPr/>
                    <a:lstStyle/>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Calibri"/>
                          <a:ea typeface="Calibri"/>
                          <a:cs typeface="Calibri"/>
                          <a:sym typeface="Calibri"/>
                        </a:rPr>
                        <a:t>3. Start clustering the colors</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000">
                          <a:solidFill>
                            <a:schemeClr val="dk1"/>
                          </a:solidFill>
                        </a:rPr>
                        <a:t>It picks K random colors from the image as initial cluster centers.</a:t>
                      </a:r>
                      <a:endParaRPr sz="1000">
                        <a:solidFill>
                          <a:schemeClr val="dk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vMerge="1"/>
              </a:tr>
              <a:tr h="459825">
                <a:tc>
                  <a:txBody>
                    <a:bodyPr/>
                    <a:lstStyle/>
                    <a:p>
                      <a:pPr indent="0" lvl="0" marL="0" rtl="0" algn="l">
                        <a:lnSpc>
                          <a:spcPct val="115000"/>
                        </a:lnSpc>
                        <a:spcBef>
                          <a:spcPts val="1200"/>
                        </a:spcBef>
                        <a:spcAft>
                          <a:spcPts val="1200"/>
                        </a:spcAft>
                        <a:buNone/>
                      </a:pPr>
                      <a:r>
                        <a:rPr lang="en" sz="1000">
                          <a:solidFill>
                            <a:schemeClr val="dk1"/>
                          </a:solidFill>
                          <a:latin typeface="Calibri"/>
                          <a:ea typeface="Calibri"/>
                          <a:cs typeface="Calibri"/>
                          <a:sym typeface="Calibri"/>
                        </a:rPr>
                        <a:t>4. Update the color groups</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000">
                          <a:solidFill>
                            <a:schemeClr val="dk1"/>
                          </a:solidFill>
                        </a:rPr>
                        <a:t>Each pixel is assigned to the nearest color cluster.</a:t>
                      </a:r>
                      <a:endParaRPr sz="1000">
                        <a:solidFill>
                          <a:schemeClr val="dk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vMerge="1"/>
              </a:tr>
              <a:tr h="488550">
                <a:tc>
                  <a:txBody>
                    <a:bodyPr/>
                    <a:lstStyle/>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Calibri"/>
                          <a:ea typeface="Calibri"/>
                          <a:cs typeface="Calibri"/>
                          <a:sym typeface="Calibri"/>
                        </a:rPr>
                        <a:t>5.Replace original pixels with their group’s color</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100">
                          <a:solidFill>
                            <a:schemeClr val="dk1"/>
                          </a:solidFill>
                        </a:rPr>
                        <a:t>Each cluster’s average color becomes its new representative color.</a:t>
                      </a:r>
                      <a:endParaRPr sz="1000">
                        <a:solidFill>
                          <a:schemeClr val="dk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vMerge="1"/>
              </a:tr>
              <a:tr h="488550">
                <a:tc>
                  <a:txBody>
                    <a:bodyPr/>
                    <a:lstStyle/>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Calibri"/>
                          <a:ea typeface="Calibri"/>
                          <a:cs typeface="Calibri"/>
                          <a:sym typeface="Calibri"/>
                        </a:rPr>
                        <a:t>6. Measure quality</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100">
                          <a:solidFill>
                            <a:schemeClr val="dk1"/>
                          </a:solidFill>
                        </a:rPr>
                        <a:t>All pixels are recolored using their cluster’s representative color.</a:t>
                      </a:r>
                      <a:endParaRPr sz="1000">
                        <a:solidFill>
                          <a:schemeClr val="dk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vMerge="1"/>
              </a:tr>
              <a:tr h="646600">
                <a:tc>
                  <a:txBody>
                    <a:bodyPr/>
                    <a:lstStyle/>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Calibri"/>
                          <a:ea typeface="Calibri"/>
                          <a:cs typeface="Calibri"/>
                          <a:sym typeface="Calibri"/>
                        </a:rPr>
                        <a:t>7. Save the compressed image</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100">
                          <a:solidFill>
                            <a:schemeClr val="dk1"/>
                          </a:solidFill>
                        </a:rPr>
                        <a:t>MSE, PSNR, and Rate are calculated, and the quantized image is saved (e.g., </a:t>
                      </a:r>
                      <a:r>
                        <a:rPr i="1" lang="en" sz="1100">
                          <a:solidFill>
                            <a:schemeClr val="dk1"/>
                          </a:solidFill>
                        </a:rPr>
                        <a:t>image_K16.png</a:t>
                      </a:r>
                      <a:r>
                        <a:rPr lang="en" sz="1100">
                          <a:solidFill>
                            <a:schemeClr val="dk1"/>
                          </a:solidFill>
                        </a:rPr>
                        <a:t>)</a:t>
                      </a:r>
                      <a:endParaRPr sz="1000">
                        <a:solidFill>
                          <a:schemeClr val="dk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vMerge="1"/>
              </a:tr>
              <a:tr h="488550">
                <a:tc>
                  <a:txBody>
                    <a:bodyPr/>
                    <a:lstStyle/>
                    <a:p>
                      <a:pPr indent="0" lvl="0" marL="0" rtl="0" algn="l">
                        <a:lnSpc>
                          <a:spcPct val="115000"/>
                        </a:lnSpc>
                        <a:spcBef>
                          <a:spcPts val="1200"/>
                        </a:spcBef>
                        <a:spcAft>
                          <a:spcPts val="1200"/>
                        </a:spcAft>
                        <a:buNone/>
                      </a:pPr>
                      <a:r>
                        <a:rPr lang="en" sz="1000">
                          <a:solidFill>
                            <a:schemeClr val="dk1"/>
                          </a:solidFill>
                          <a:latin typeface="Calibri"/>
                          <a:ea typeface="Calibri"/>
                          <a:cs typeface="Calibri"/>
                          <a:sym typeface="Calibri"/>
                        </a:rPr>
                        <a:t>8. Save the results</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100">
                          <a:solidFill>
                            <a:schemeClr val="dk1"/>
                          </a:solidFill>
                        </a:rPr>
                        <a:t>A CSV of quality metrics and a Rate–Distortion plot are generated.</a:t>
                      </a:r>
                      <a:endParaRPr sz="1000">
                        <a:solidFill>
                          <a:schemeClr val="dk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vMerge="1"/>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title"/>
          </p:nvPr>
        </p:nvSpPr>
        <p:spPr>
          <a:xfrm>
            <a:off x="0" y="0"/>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Empirical Results &amp; Commentary</a:t>
            </a:r>
            <a:endParaRPr/>
          </a:p>
        </p:txBody>
      </p:sp>
      <p:pic>
        <p:nvPicPr>
          <p:cNvPr id="196" name="Google Shape;196;p31"/>
          <p:cNvPicPr preferRelativeResize="0"/>
          <p:nvPr/>
        </p:nvPicPr>
        <p:blipFill>
          <a:blip r:embed="rId3">
            <a:alphaModFix/>
          </a:blip>
          <a:stretch>
            <a:fillRect/>
          </a:stretch>
        </p:blipFill>
        <p:spPr>
          <a:xfrm>
            <a:off x="286475" y="1314125"/>
            <a:ext cx="1452625" cy="1048850"/>
          </a:xfrm>
          <a:prstGeom prst="rect">
            <a:avLst/>
          </a:prstGeom>
          <a:noFill/>
          <a:ln>
            <a:noFill/>
          </a:ln>
        </p:spPr>
      </p:pic>
      <p:sp>
        <p:nvSpPr>
          <p:cNvPr id="197" name="Google Shape;197;p31"/>
          <p:cNvSpPr txBox="1"/>
          <p:nvPr/>
        </p:nvSpPr>
        <p:spPr>
          <a:xfrm>
            <a:off x="164075" y="721875"/>
            <a:ext cx="7087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chemeClr val="dk1"/>
                </a:solidFill>
                <a:latin typeface="Calibri"/>
                <a:ea typeface="Calibri"/>
                <a:cs typeface="Calibri"/>
                <a:sym typeface="Calibri"/>
              </a:rPr>
              <a:t>Input                               output (4 images)</a:t>
            </a:r>
            <a:endParaRPr b="1" sz="2100">
              <a:solidFill>
                <a:schemeClr val="dk1"/>
              </a:solidFill>
              <a:latin typeface="Calibri"/>
              <a:ea typeface="Calibri"/>
              <a:cs typeface="Calibri"/>
              <a:sym typeface="Calibri"/>
            </a:endParaRPr>
          </a:p>
        </p:txBody>
      </p:sp>
      <p:pic>
        <p:nvPicPr>
          <p:cNvPr id="198" name="Google Shape;198;p31"/>
          <p:cNvPicPr preferRelativeResize="0"/>
          <p:nvPr/>
        </p:nvPicPr>
        <p:blipFill>
          <a:blip r:embed="rId4">
            <a:alphaModFix/>
          </a:blip>
          <a:stretch>
            <a:fillRect/>
          </a:stretch>
        </p:blipFill>
        <p:spPr>
          <a:xfrm>
            <a:off x="2577350" y="1314125"/>
            <a:ext cx="926100" cy="629875"/>
          </a:xfrm>
          <a:prstGeom prst="rect">
            <a:avLst/>
          </a:prstGeom>
          <a:noFill/>
          <a:ln>
            <a:noFill/>
          </a:ln>
        </p:spPr>
      </p:pic>
      <p:sp>
        <p:nvSpPr>
          <p:cNvPr id="199" name="Google Shape;199;p31"/>
          <p:cNvSpPr txBox="1"/>
          <p:nvPr/>
        </p:nvSpPr>
        <p:spPr>
          <a:xfrm>
            <a:off x="5877500" y="811913"/>
            <a:ext cx="27663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chemeClr val="dk1"/>
                </a:solidFill>
                <a:latin typeface="Calibri"/>
                <a:ea typeface="Calibri"/>
                <a:cs typeface="Calibri"/>
                <a:sym typeface="Calibri"/>
              </a:rPr>
              <a:t>CSV </a:t>
            </a:r>
            <a:r>
              <a:rPr b="1" lang="en" sz="2100">
                <a:solidFill>
                  <a:schemeClr val="dk1"/>
                </a:solidFill>
                <a:latin typeface="Calibri"/>
                <a:ea typeface="Calibri"/>
                <a:cs typeface="Calibri"/>
                <a:sym typeface="Calibri"/>
              </a:rPr>
              <a:t>values </a:t>
            </a:r>
            <a:r>
              <a:rPr b="1" lang="en" sz="2100">
                <a:solidFill>
                  <a:schemeClr val="dk1"/>
                </a:solidFill>
                <a:latin typeface="Calibri"/>
                <a:ea typeface="Calibri"/>
                <a:cs typeface="Calibri"/>
                <a:sym typeface="Calibri"/>
              </a:rPr>
              <a:t>:</a:t>
            </a:r>
            <a:endParaRPr b="1"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K,rate_bpp,mse,psnr_db</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2,1.000000,1157.278642,17.496424</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4,2.000000,420.010957,21.898197</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8,3.000000,156.133331,26.195847</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16,4.000000,85.395330,28.816462</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0" name="Google Shape;200;p31"/>
          <p:cNvSpPr txBox="1"/>
          <p:nvPr/>
        </p:nvSpPr>
        <p:spPr>
          <a:xfrm>
            <a:off x="135100" y="2682900"/>
            <a:ext cx="4581300" cy="226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chemeClr val="dk1"/>
                </a:solidFill>
                <a:latin typeface="Calibri"/>
                <a:ea typeface="Calibri"/>
                <a:cs typeface="Calibri"/>
                <a:sym typeface="Calibri"/>
              </a:rPr>
              <a:t>Commentary :</a:t>
            </a:r>
            <a:endParaRPr b="1" sz="2100">
              <a:solidFill>
                <a:schemeClr val="dk1"/>
              </a:solidFill>
              <a:latin typeface="Calibri"/>
              <a:ea typeface="Calibri"/>
              <a:cs typeface="Calibri"/>
              <a:sym typeface="Calibri"/>
            </a:endParaRPr>
          </a:p>
          <a:p>
            <a:pPr indent="0" lvl="0" marL="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a:t>
            </a:r>
            <a:r>
              <a:rPr lang="en" sz="1300">
                <a:solidFill>
                  <a:schemeClr val="dk1"/>
                </a:solidFill>
                <a:latin typeface="Calibri"/>
                <a:ea typeface="Calibri"/>
                <a:cs typeface="Calibri"/>
                <a:sym typeface="Calibri"/>
              </a:rPr>
              <a:t>Standard K-Means minimizes only squared distortion.</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 RD-KMeans adds rate term to balance cluster usage.</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 Low λ behaves similar to normal K-Means.</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 High λ forces compression by merging rare colors.</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 Higher λ increases visible quantization artifacts.</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 RD-KMeans reduces bit-rate while controlling distortion.</a:t>
            </a:r>
            <a:endParaRPr sz="1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pic>
        <p:nvPicPr>
          <p:cNvPr id="201" name="Google Shape;201;p31"/>
          <p:cNvPicPr preferRelativeResize="0"/>
          <p:nvPr/>
        </p:nvPicPr>
        <p:blipFill>
          <a:blip r:embed="rId5">
            <a:alphaModFix/>
          </a:blip>
          <a:stretch>
            <a:fillRect/>
          </a:stretch>
        </p:blipFill>
        <p:spPr>
          <a:xfrm>
            <a:off x="3720025" y="1328126"/>
            <a:ext cx="926085" cy="629875"/>
          </a:xfrm>
          <a:prstGeom prst="rect">
            <a:avLst/>
          </a:prstGeom>
          <a:noFill/>
          <a:ln>
            <a:noFill/>
          </a:ln>
        </p:spPr>
      </p:pic>
      <p:pic>
        <p:nvPicPr>
          <p:cNvPr id="202" name="Google Shape;202;p31"/>
          <p:cNvPicPr preferRelativeResize="0"/>
          <p:nvPr/>
        </p:nvPicPr>
        <p:blipFill>
          <a:blip r:embed="rId6">
            <a:alphaModFix/>
          </a:blip>
          <a:stretch>
            <a:fillRect/>
          </a:stretch>
        </p:blipFill>
        <p:spPr>
          <a:xfrm>
            <a:off x="2577350" y="2056350"/>
            <a:ext cx="926075" cy="629867"/>
          </a:xfrm>
          <a:prstGeom prst="rect">
            <a:avLst/>
          </a:prstGeom>
          <a:noFill/>
          <a:ln>
            <a:noFill/>
          </a:ln>
        </p:spPr>
      </p:pic>
      <p:pic>
        <p:nvPicPr>
          <p:cNvPr id="203" name="Google Shape;203;p31"/>
          <p:cNvPicPr preferRelativeResize="0"/>
          <p:nvPr/>
        </p:nvPicPr>
        <p:blipFill>
          <a:blip r:embed="rId7">
            <a:alphaModFix/>
          </a:blip>
          <a:stretch>
            <a:fillRect/>
          </a:stretch>
        </p:blipFill>
        <p:spPr>
          <a:xfrm>
            <a:off x="3720025" y="2056349"/>
            <a:ext cx="926075" cy="629865"/>
          </a:xfrm>
          <a:prstGeom prst="rect">
            <a:avLst/>
          </a:prstGeom>
          <a:noFill/>
          <a:ln>
            <a:noFill/>
          </a:ln>
        </p:spPr>
      </p:pic>
      <p:pic>
        <p:nvPicPr>
          <p:cNvPr id="204" name="Google Shape;204;p31"/>
          <p:cNvPicPr preferRelativeResize="0"/>
          <p:nvPr/>
        </p:nvPicPr>
        <p:blipFill>
          <a:blip r:embed="rId8">
            <a:alphaModFix/>
          </a:blip>
          <a:stretch>
            <a:fillRect/>
          </a:stretch>
        </p:blipFill>
        <p:spPr>
          <a:xfrm>
            <a:off x="5131550" y="2571750"/>
            <a:ext cx="3392485" cy="2428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2"/>
          <p:cNvSpPr txBox="1"/>
          <p:nvPr>
            <p:ph type="title"/>
          </p:nvPr>
        </p:nvSpPr>
        <p:spPr>
          <a:xfrm>
            <a:off x="628650" y="175261"/>
            <a:ext cx="7886700" cy="4497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00000"/>
              <a:buFont typeface="Calibri"/>
              <a:buNone/>
            </a:pPr>
            <a:r>
              <a:rPr lang="en"/>
              <a:t>                                Code Snippets</a:t>
            </a:r>
            <a:endParaRPr/>
          </a:p>
        </p:txBody>
      </p:sp>
      <p:sp>
        <p:nvSpPr>
          <p:cNvPr id="210" name="Google Shape;210;p32"/>
          <p:cNvSpPr txBox="1"/>
          <p:nvPr/>
        </p:nvSpPr>
        <p:spPr>
          <a:xfrm>
            <a:off x="399325" y="624950"/>
            <a:ext cx="4108200" cy="44175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import numpy as np, matplotlib.pyplot as plt</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from PIL import Image</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from math import log2</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def kmeans(X, K, iters=50):</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N, D = X.shape</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C = X[np.random.choice(N, K, replace=False)]</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for _ in range(iters):</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d = ((X[:, None] - C[None])**2).sum(2)</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L = np.argmin(d, 1)</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Cn = np.array([X[L==k].mean(0) if np.any(L==k) else C[k] for k in range(K)])</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if np.allclose(C, Cn, atol=1e-3): break</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C = Cn</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return C, L</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def quantize(path, K):</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    img = np.array(Image.open(path).convert("RGB")).astype(np.float32)</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    H, W, _ = img.shape</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    X = img.reshape(-1, 3)</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    C, L = kmeans(X, K)</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    return img, C[L].reshape(H, W, 3)</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def mse(a, b): return ((a - b)**2).mean()</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def psnr(m): return 10 * np.log10((255**2) / m)</a:t>
            </a:r>
            <a:endParaRPr sz="1100">
              <a:solidFill>
                <a:schemeClr val="dk1"/>
              </a:solidFill>
              <a:latin typeface="Calibri"/>
              <a:ea typeface="Calibri"/>
              <a:cs typeface="Calibri"/>
              <a:sym typeface="Calibri"/>
            </a:endParaRPr>
          </a:p>
        </p:txBody>
      </p:sp>
      <p:sp>
        <p:nvSpPr>
          <p:cNvPr id="211" name="Google Shape;211;p32"/>
          <p:cNvSpPr txBox="1"/>
          <p:nvPr/>
        </p:nvSpPr>
        <p:spPr>
          <a:xfrm>
            <a:off x="4890700" y="797000"/>
            <a:ext cx="3908700" cy="20472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def run(path, Ks):</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for K in Ks:</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orig, q = quantize(path, K)</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D, P, R = mse(orig, q), psnr(mse(orig, q)), log2(K)</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Image.fromarray(q.astype(np.uint8)).save(f"out_K{K}.png")</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print(f"K={K} | MSE={D:.1f} | PSNR={P:.1f} dB | Rate={R:.2f}")</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plt.plot(R, D, 'o')</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plt.xlabel("Rate (bits/pixel)"); plt.ylabel("Distortion (MSE)")</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plt.title("Rate–Distortion Curve"); plt.grid(); plt.show()</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 Example: run("image.jpg", [2, 4, 8, 16, 32])</a:t>
            </a:r>
            <a:endParaRPr sz="1100">
              <a:solidFill>
                <a:schemeClr val="dk1"/>
              </a:solidFill>
              <a:latin typeface="Calibri"/>
              <a:ea typeface="Calibri"/>
              <a:cs typeface="Calibri"/>
              <a:sym typeface="Calibri"/>
            </a:endParaRPr>
          </a:p>
        </p:txBody>
      </p:sp>
      <p:sp>
        <p:nvSpPr>
          <p:cNvPr id="212" name="Google Shape;212;p32"/>
          <p:cNvSpPr txBox="1"/>
          <p:nvPr/>
        </p:nvSpPr>
        <p:spPr>
          <a:xfrm>
            <a:off x="4890700" y="3016250"/>
            <a:ext cx="39087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dk1"/>
                </a:solidFill>
                <a:latin typeface="Calibri"/>
                <a:ea typeface="Calibri"/>
                <a:cs typeface="Calibri"/>
                <a:sym typeface="Calibri"/>
              </a:rPr>
              <a:t>Reference</a:t>
            </a:r>
            <a:r>
              <a:rPr b="1" lang="en" sz="1600">
                <a:solidFill>
                  <a:schemeClr val="dk1"/>
                </a:solidFill>
                <a:latin typeface="Calibri"/>
                <a:ea typeface="Calibri"/>
                <a:cs typeface="Calibri"/>
                <a:sym typeface="Calibri"/>
              </a:rPr>
              <a:t> </a:t>
            </a:r>
            <a:endParaRPr b="1" sz="1600">
              <a:solidFill>
                <a:schemeClr val="dk1"/>
              </a:solidFill>
              <a:latin typeface="Calibri"/>
              <a:ea typeface="Calibri"/>
              <a:cs typeface="Calibri"/>
              <a:sym typeface="Calibri"/>
            </a:endParaRPr>
          </a:p>
          <a:p>
            <a:pPr indent="0" lvl="0" marL="0" rtl="0" algn="l">
              <a:spcBef>
                <a:spcPts val="0"/>
              </a:spcBef>
              <a:spcAft>
                <a:spcPts val="0"/>
              </a:spcAft>
              <a:buNone/>
            </a:pPr>
            <a:r>
              <a:t/>
            </a:r>
            <a:endParaRPr b="1" sz="1600">
              <a:solidFill>
                <a:schemeClr val="dk1"/>
              </a:solidFill>
              <a:latin typeface="Calibri"/>
              <a:ea typeface="Calibri"/>
              <a:cs typeface="Calibri"/>
              <a:sym typeface="Calibri"/>
            </a:endParaRPr>
          </a:p>
          <a:p>
            <a:pPr indent="0" lvl="0" marL="0" rtl="0" algn="l">
              <a:spcBef>
                <a:spcPts val="0"/>
              </a:spcBef>
              <a:spcAft>
                <a:spcPts val="0"/>
              </a:spcAft>
              <a:buNone/>
            </a:pPr>
            <a:r>
              <a:rPr lang="en" sz="1100" u="sng">
                <a:solidFill>
                  <a:schemeClr val="hlink"/>
                </a:solidFill>
                <a:latin typeface="Calibri"/>
                <a:ea typeface="Calibri"/>
                <a:cs typeface="Calibri"/>
                <a:sym typeface="Calibri"/>
                <a:hlinkClick r:id="rId3"/>
              </a:rPr>
              <a:t>https://www.geeksforgeeks.org/machine-learning/image-compression-using-k-means-clustering/</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u="sng">
                <a:solidFill>
                  <a:schemeClr val="hlink"/>
                </a:solidFill>
                <a:latin typeface="Calibri"/>
                <a:ea typeface="Calibri"/>
                <a:cs typeface="Calibri"/>
                <a:sym typeface="Calibri"/>
                <a:hlinkClick r:id="rId4"/>
              </a:rPr>
              <a:t>https://youtu.be/EItlUEPCIzM?si=XwUwgmInl_-zwaFs</a:t>
            </a:r>
            <a:endParaRPr sz="11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3"/>
          <p:cNvSpPr txBox="1"/>
          <p:nvPr>
            <p:ph type="ctrTitle"/>
          </p:nvPr>
        </p:nvSpPr>
        <p:spPr>
          <a:xfrm>
            <a:off x="1143000" y="110625"/>
            <a:ext cx="6858000" cy="559500"/>
          </a:xfrm>
          <a:prstGeom prst="rect">
            <a:avLst/>
          </a:prstGeom>
          <a:noFill/>
          <a:ln>
            <a:noFill/>
          </a:ln>
        </p:spPr>
        <p:txBody>
          <a:bodyPr anchorCtr="0" anchor="b" bIns="34275" lIns="68575" spcFirstLastPara="1" rIns="68575" wrap="square" tIns="34275">
            <a:normAutofit fontScale="90000"/>
          </a:bodyPr>
          <a:lstStyle/>
          <a:p>
            <a:pPr indent="0" lvl="0" marL="0" rtl="0" algn="ctr">
              <a:lnSpc>
                <a:spcPct val="90000"/>
              </a:lnSpc>
              <a:spcBef>
                <a:spcPts val="0"/>
              </a:spcBef>
              <a:spcAft>
                <a:spcPts val="0"/>
              </a:spcAft>
              <a:buClr>
                <a:schemeClr val="dk1"/>
              </a:buClr>
              <a:buSzPct val="110958"/>
              <a:buFont typeface="Calibri"/>
              <a:buNone/>
            </a:pPr>
            <a:r>
              <a:rPr lang="en" sz="3650"/>
              <a:t>Problem 3: Sampling and Frequency</a:t>
            </a:r>
            <a:endParaRPr sz="2850"/>
          </a:p>
        </p:txBody>
      </p:sp>
      <p:sp>
        <p:nvSpPr>
          <p:cNvPr id="218" name="Google Shape;218;p33"/>
          <p:cNvSpPr txBox="1"/>
          <p:nvPr>
            <p:ph idx="1" type="subTitle"/>
          </p:nvPr>
        </p:nvSpPr>
        <p:spPr>
          <a:xfrm>
            <a:off x="469525" y="835875"/>
            <a:ext cx="8500500" cy="819000"/>
          </a:xfrm>
          <a:prstGeom prst="rect">
            <a:avLst/>
          </a:prstGeom>
          <a:noFill/>
          <a:ln>
            <a:noFill/>
          </a:ln>
        </p:spPr>
        <p:txBody>
          <a:bodyPr anchorCtr="0" anchor="t" bIns="34275" lIns="68575" spcFirstLastPara="1" rIns="68575" wrap="square" tIns="34275">
            <a:normAutofit fontScale="25000" lnSpcReduction="20000"/>
          </a:bodyPr>
          <a:lstStyle/>
          <a:p>
            <a:pPr indent="0" lvl="1" marL="0" rtl="0" algn="l">
              <a:lnSpc>
                <a:spcPct val="90000"/>
              </a:lnSpc>
              <a:spcBef>
                <a:spcPts val="400"/>
              </a:spcBef>
              <a:spcAft>
                <a:spcPts val="0"/>
              </a:spcAft>
              <a:buClr>
                <a:schemeClr val="dk1"/>
              </a:buClr>
              <a:buSzPts val="275"/>
              <a:buNone/>
            </a:pPr>
            <a:r>
              <a:rPr b="1" lang="en" sz="5600"/>
              <a:t>PROBLEM DESCRIPTION : </a:t>
            </a:r>
            <a:endParaRPr b="1" sz="5600"/>
          </a:p>
          <a:p>
            <a:pPr indent="0" lvl="1" marL="0" rtl="0" algn="l">
              <a:lnSpc>
                <a:spcPct val="115000"/>
              </a:lnSpc>
              <a:spcBef>
                <a:spcPts val="400"/>
              </a:spcBef>
              <a:spcAft>
                <a:spcPts val="0"/>
              </a:spcAft>
              <a:buClr>
                <a:schemeClr val="dk1"/>
              </a:buClr>
              <a:buSzPts val="275"/>
              <a:buNone/>
            </a:pPr>
            <a:r>
              <a:rPr lang="en" sz="5750"/>
              <a:t>This problem demonstrates how an image behaves under different sampling techniques. Frequency sampling removes high-frequency components using FFT, while spatial sampling reduces resolution by selecting every f-th pixel. The goal is to observe blur, pixelation, and detail loss at different sampling rates.</a:t>
            </a:r>
            <a:endParaRPr sz="5750"/>
          </a:p>
        </p:txBody>
      </p:sp>
      <p:sp>
        <p:nvSpPr>
          <p:cNvPr id="219" name="Google Shape;219;p33"/>
          <p:cNvSpPr txBox="1"/>
          <p:nvPr/>
        </p:nvSpPr>
        <p:spPr>
          <a:xfrm>
            <a:off x="469525" y="1820614"/>
            <a:ext cx="45732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chemeClr val="dk1"/>
                </a:solidFill>
                <a:latin typeface="Calibri"/>
                <a:ea typeface="Calibri"/>
                <a:cs typeface="Calibri"/>
                <a:sym typeface="Calibri"/>
              </a:rPr>
              <a:t>TABULARIZATION</a:t>
            </a:r>
            <a:r>
              <a:rPr b="1" lang="en">
                <a:solidFill>
                  <a:schemeClr val="dk1"/>
                </a:solidFill>
                <a:latin typeface="Calibri"/>
                <a:ea typeface="Calibri"/>
                <a:cs typeface="Calibri"/>
                <a:sym typeface="Calibri"/>
              </a:rPr>
              <a:t> :</a:t>
            </a:r>
            <a:endParaRPr b="1" sz="1100"/>
          </a:p>
        </p:txBody>
      </p:sp>
      <p:graphicFrame>
        <p:nvGraphicFramePr>
          <p:cNvPr id="220" name="Google Shape;220;p33"/>
          <p:cNvGraphicFramePr/>
          <p:nvPr/>
        </p:nvGraphicFramePr>
        <p:xfrm>
          <a:off x="469520" y="2249636"/>
          <a:ext cx="3000000" cy="3000000"/>
        </p:xfrm>
        <a:graphic>
          <a:graphicData uri="http://schemas.openxmlformats.org/drawingml/2006/table">
            <a:tbl>
              <a:tblPr>
                <a:noFill/>
                <a:tableStyleId>{65969A0D-016F-44CF-ACF5-BAA6737E0D2A}</a:tableStyleId>
              </a:tblPr>
              <a:tblGrid>
                <a:gridCol w="2735775"/>
                <a:gridCol w="2789300"/>
              </a:tblGrid>
              <a:tr h="313000">
                <a:tc>
                  <a:txBody>
                    <a:bodyPr/>
                    <a:lstStyle/>
                    <a:p>
                      <a:pPr indent="0" lvl="0" marL="0" marR="0" rtl="0" algn="l">
                        <a:spcBef>
                          <a:spcPts val="0"/>
                        </a:spcBef>
                        <a:spcAft>
                          <a:spcPts val="0"/>
                        </a:spcAft>
                        <a:buClr>
                          <a:schemeClr val="dk1"/>
                        </a:buClr>
                        <a:buSzPts val="800"/>
                        <a:buFont typeface="Calibri"/>
                        <a:buNone/>
                      </a:pPr>
                      <a:r>
                        <a:rPr b="1" lang="en" sz="900"/>
                        <a:t>Property</a:t>
                      </a:r>
                      <a:endParaRPr b="1" sz="1200"/>
                    </a:p>
                  </a:txBody>
                  <a:tcPr marT="34300" marB="34300" marR="68600" marL="68600"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b="1" lang="en" sz="900"/>
                        <a:t>Value</a:t>
                      </a:r>
                      <a:endParaRPr b="1" sz="900"/>
                    </a:p>
                  </a:txBody>
                  <a:tcPr marT="34300" marB="34300" marR="68600" marL="68600" anchor="ctr">
                    <a:solidFill>
                      <a:srgbClr val="D9EAD3"/>
                    </a:solidFill>
                  </a:tcPr>
                </a:tc>
              </a:tr>
              <a:tr h="313000">
                <a:tc>
                  <a:txBody>
                    <a:bodyPr/>
                    <a:lstStyle/>
                    <a:p>
                      <a:pPr indent="0" lvl="0" marL="0" marR="0" rtl="0" algn="l">
                        <a:spcBef>
                          <a:spcPts val="0"/>
                        </a:spcBef>
                        <a:spcAft>
                          <a:spcPts val="0"/>
                        </a:spcAft>
                        <a:buClr>
                          <a:schemeClr val="dk1"/>
                        </a:buClr>
                        <a:buSzPts val="800"/>
                        <a:buFont typeface="Calibri"/>
                        <a:buNone/>
                      </a:pPr>
                      <a:r>
                        <a:rPr lang="en" sz="900"/>
                        <a:t>Image Type</a:t>
                      </a:r>
                      <a:endParaRPr sz="1200"/>
                    </a:p>
                  </a:txBody>
                  <a:tcPr marT="34300" marB="34300" marR="68600" marL="68600"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900"/>
                        <a:t>JPEG</a:t>
                      </a:r>
                      <a:endParaRPr sz="900"/>
                    </a:p>
                  </a:txBody>
                  <a:tcPr marT="34300" marB="34300" marR="68600" marL="68600" anchor="ctr">
                    <a:solidFill>
                      <a:srgbClr val="D9EAD3"/>
                    </a:solidFill>
                  </a:tcPr>
                </a:tc>
              </a:tr>
              <a:tr h="313000">
                <a:tc>
                  <a:txBody>
                    <a:bodyPr/>
                    <a:lstStyle/>
                    <a:p>
                      <a:pPr indent="0" lvl="0" marL="0" marR="0" rtl="0" algn="l">
                        <a:spcBef>
                          <a:spcPts val="0"/>
                        </a:spcBef>
                        <a:spcAft>
                          <a:spcPts val="0"/>
                        </a:spcAft>
                        <a:buClr>
                          <a:schemeClr val="dk1"/>
                        </a:buClr>
                        <a:buSzPts val="800"/>
                        <a:buFont typeface="Calibri"/>
                        <a:buNone/>
                      </a:pPr>
                      <a:r>
                        <a:rPr lang="en" sz="900"/>
                        <a:t>Resolution</a:t>
                      </a:r>
                      <a:endParaRPr sz="1200"/>
                    </a:p>
                  </a:txBody>
                  <a:tcPr marT="34300" marB="34300" marR="68600" marL="68600"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900"/>
                        <a:t>600x400</a:t>
                      </a:r>
                      <a:endParaRPr sz="900"/>
                    </a:p>
                  </a:txBody>
                  <a:tcPr marT="34300" marB="34300" marR="68600" marL="68600" anchor="ctr">
                    <a:solidFill>
                      <a:srgbClr val="D9EAD3"/>
                    </a:solidFill>
                  </a:tcPr>
                </a:tc>
              </a:tr>
              <a:tr h="313000">
                <a:tc>
                  <a:txBody>
                    <a:bodyPr/>
                    <a:lstStyle/>
                    <a:p>
                      <a:pPr indent="0" lvl="0" marL="0" marR="0" rtl="0" algn="l">
                        <a:spcBef>
                          <a:spcPts val="0"/>
                        </a:spcBef>
                        <a:spcAft>
                          <a:spcPts val="0"/>
                        </a:spcAft>
                        <a:buClr>
                          <a:schemeClr val="dk1"/>
                        </a:buClr>
                        <a:buSzPts val="800"/>
                        <a:buFont typeface="Calibri"/>
                        <a:buNone/>
                      </a:pPr>
                      <a:r>
                        <a:rPr lang="en" sz="900"/>
                        <a:t>Format</a:t>
                      </a:r>
                      <a:endParaRPr sz="1200"/>
                    </a:p>
                  </a:txBody>
                  <a:tcPr marT="34300" marB="34300" marR="68600" marL="68600"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900"/>
                        <a:t>JPEG</a:t>
                      </a:r>
                      <a:endParaRPr sz="900"/>
                    </a:p>
                  </a:txBody>
                  <a:tcPr marT="34300" marB="34300" marR="68600" marL="68600" anchor="ctr">
                    <a:solidFill>
                      <a:srgbClr val="D9EAD3"/>
                    </a:solidFill>
                  </a:tcPr>
                </a:tc>
              </a:tr>
              <a:tr h="313000">
                <a:tc>
                  <a:txBody>
                    <a:bodyPr/>
                    <a:lstStyle/>
                    <a:p>
                      <a:pPr indent="0" lvl="0" marL="0" marR="0" rtl="0" algn="l">
                        <a:spcBef>
                          <a:spcPts val="0"/>
                        </a:spcBef>
                        <a:spcAft>
                          <a:spcPts val="0"/>
                        </a:spcAft>
                        <a:buClr>
                          <a:schemeClr val="dk1"/>
                        </a:buClr>
                        <a:buSzPts val="800"/>
                        <a:buFont typeface="Calibri"/>
                        <a:buNone/>
                      </a:pPr>
                      <a:r>
                        <a:rPr lang="en" sz="900"/>
                        <a:t>Source</a:t>
                      </a:r>
                      <a:endParaRPr sz="1200"/>
                    </a:p>
                  </a:txBody>
                  <a:tcPr marT="34300" marB="34300" marR="68600" marL="68600"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900"/>
                        <a:t>GOOGLE</a:t>
                      </a:r>
                      <a:endParaRPr sz="900"/>
                    </a:p>
                  </a:txBody>
                  <a:tcPr marT="34300" marB="34300" marR="68600" marL="68600" anchor="ctr">
                    <a:solidFill>
                      <a:srgbClr val="D9EAD3"/>
                    </a:solidFill>
                  </a:tcPr>
                </a:tc>
              </a:tr>
            </a:tbl>
          </a:graphicData>
        </a:graphic>
      </p:graphicFrame>
      <p:sp>
        <p:nvSpPr>
          <p:cNvPr id="221" name="Google Shape;221;p33"/>
          <p:cNvSpPr txBox="1"/>
          <p:nvPr/>
        </p:nvSpPr>
        <p:spPr>
          <a:xfrm>
            <a:off x="428675" y="3918750"/>
            <a:ext cx="6188100" cy="931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chemeClr val="dk1"/>
                </a:solidFill>
                <a:latin typeface="Calibri"/>
                <a:ea typeface="Calibri"/>
                <a:cs typeface="Calibri"/>
                <a:sym typeface="Calibri"/>
              </a:rPr>
              <a:t>Dataset Description : </a:t>
            </a:r>
            <a:endParaRPr b="1" sz="1400">
              <a:solidFill>
                <a:schemeClr val="dk1"/>
              </a:solidFill>
              <a:latin typeface="Calibri"/>
              <a:ea typeface="Calibri"/>
              <a:cs typeface="Calibri"/>
              <a:sym typeface="Calibri"/>
            </a:endParaRPr>
          </a:p>
          <a:p>
            <a:pPr indent="0" lvl="0" marL="0" marR="0" rtl="0" algn="l">
              <a:spcBef>
                <a:spcPts val="0"/>
              </a:spcBef>
              <a:spcAft>
                <a:spcPts val="0"/>
              </a:spcAft>
              <a:buNone/>
            </a:pPr>
            <a:r>
              <a:rPr lang="en">
                <a:solidFill>
                  <a:schemeClr val="dk1"/>
                </a:solidFill>
                <a:latin typeface="Calibri"/>
                <a:ea typeface="Calibri"/>
                <a:cs typeface="Calibri"/>
                <a:sym typeface="Calibri"/>
              </a:rPr>
              <a:t>A single natural landscape image downloaded from Google, containing mountains, sky, and flowers.This image is used to analyze the effects of frequency-domain and spatial-domain sampling.</a:t>
            </a:r>
            <a:endParaRPr>
              <a:solidFill>
                <a:schemeClr val="dk1"/>
              </a:solidFill>
              <a:latin typeface="Calibri"/>
              <a:ea typeface="Calibri"/>
              <a:cs typeface="Calibri"/>
              <a:sym typeface="Calibri"/>
            </a:endParaRPr>
          </a:p>
        </p:txBody>
      </p:sp>
      <p:sp>
        <p:nvSpPr>
          <p:cNvPr id="222" name="Google Shape;222;p33"/>
          <p:cNvSpPr txBox="1"/>
          <p:nvPr/>
        </p:nvSpPr>
        <p:spPr>
          <a:xfrm>
            <a:off x="5994600" y="2122800"/>
            <a:ext cx="3149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a:solidFill>
                  <a:schemeClr val="dk1"/>
                </a:solidFill>
                <a:latin typeface="Calibri"/>
                <a:ea typeface="Calibri"/>
                <a:cs typeface="Calibri"/>
                <a:sym typeface="Calibri"/>
              </a:rPr>
              <a:t>           </a:t>
            </a:r>
            <a:r>
              <a:rPr b="1" lang="en">
                <a:solidFill>
                  <a:schemeClr val="dk1"/>
                </a:solidFill>
                <a:latin typeface="Calibri"/>
                <a:ea typeface="Calibri"/>
                <a:cs typeface="Calibri"/>
                <a:sym typeface="Calibri"/>
              </a:rPr>
              <a:t>   </a:t>
            </a:r>
            <a:r>
              <a:rPr b="1" lang="en" sz="1400">
                <a:solidFill>
                  <a:schemeClr val="dk1"/>
                </a:solidFill>
                <a:latin typeface="Calibri"/>
                <a:ea typeface="Calibri"/>
                <a:cs typeface="Calibri"/>
                <a:sym typeface="Calibri"/>
              </a:rPr>
              <a:t>Visualization:</a:t>
            </a:r>
            <a:endParaRPr b="1" sz="1100"/>
          </a:p>
        </p:txBody>
      </p:sp>
      <p:pic>
        <p:nvPicPr>
          <p:cNvPr id="223" name="Google Shape;223;p33"/>
          <p:cNvPicPr preferRelativeResize="0"/>
          <p:nvPr/>
        </p:nvPicPr>
        <p:blipFill>
          <a:blip r:embed="rId3">
            <a:alphaModFix/>
          </a:blip>
          <a:stretch>
            <a:fillRect/>
          </a:stretch>
        </p:blipFill>
        <p:spPr>
          <a:xfrm>
            <a:off x="6567925" y="2535650"/>
            <a:ext cx="2261951" cy="1383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4"/>
          <p:cNvSpPr txBox="1"/>
          <p:nvPr>
            <p:ph type="title"/>
          </p:nvPr>
        </p:nvSpPr>
        <p:spPr>
          <a:xfrm>
            <a:off x="891500" y="600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           Approach Limitation &amp; Code</a:t>
            </a:r>
            <a:endParaRPr/>
          </a:p>
        </p:txBody>
      </p:sp>
      <p:graphicFrame>
        <p:nvGraphicFramePr>
          <p:cNvPr id="229" name="Google Shape;229;p34"/>
          <p:cNvGraphicFramePr/>
          <p:nvPr/>
        </p:nvGraphicFramePr>
        <p:xfrm>
          <a:off x="713425" y="974050"/>
          <a:ext cx="3000000" cy="3000000"/>
        </p:xfrm>
        <a:graphic>
          <a:graphicData uri="http://schemas.openxmlformats.org/drawingml/2006/table">
            <a:tbl>
              <a:tblPr>
                <a:noFill/>
                <a:tableStyleId>{65969A0D-016F-44CF-ACF5-BAA6737E0D2A}</a:tableStyleId>
              </a:tblPr>
              <a:tblGrid>
                <a:gridCol w="585750"/>
                <a:gridCol w="1922900"/>
                <a:gridCol w="3099450"/>
                <a:gridCol w="2278600"/>
              </a:tblGrid>
              <a:tr h="267750">
                <a:tc>
                  <a:txBody>
                    <a:bodyPr/>
                    <a:lstStyle/>
                    <a:p>
                      <a:pPr indent="0" lvl="0" marL="0" marR="0" rtl="0" algn="l">
                        <a:spcBef>
                          <a:spcPts val="0"/>
                        </a:spcBef>
                        <a:spcAft>
                          <a:spcPts val="0"/>
                        </a:spcAft>
                        <a:buClr>
                          <a:schemeClr val="dk1"/>
                        </a:buClr>
                        <a:buSzPts val="800"/>
                        <a:buFont typeface="Calibri"/>
                        <a:buNone/>
                      </a:pPr>
                      <a:r>
                        <a:rPr b="1" lang="en" sz="1100"/>
                        <a:t>No</a:t>
                      </a:r>
                      <a:endParaRPr b="1"/>
                    </a:p>
                  </a:txBody>
                  <a:tcPr marT="29275" marB="29275" marR="58525" marL="58525"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b="1" lang="en" sz="1100"/>
                        <a:t>Step Name</a:t>
                      </a:r>
                      <a:endParaRPr b="1"/>
                    </a:p>
                  </a:txBody>
                  <a:tcPr marT="29275" marB="29275" marR="58525" marL="58525"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b="1" lang="en" sz="1100"/>
                        <a:t>Description (Short)</a:t>
                      </a:r>
                      <a:endParaRPr b="1"/>
                    </a:p>
                  </a:txBody>
                  <a:tcPr marT="29275" marB="29275" marR="58525" marL="58525"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b="1" lang="en" sz="1100"/>
                        <a:t>Code Reference</a:t>
                      </a:r>
                      <a:endParaRPr b="1"/>
                    </a:p>
                  </a:txBody>
                  <a:tcPr marT="29275" marB="29275" marR="58525" marL="58525" anchor="ctr">
                    <a:solidFill>
                      <a:srgbClr val="D9EAD3"/>
                    </a:solidFill>
                  </a:tcPr>
                </a:tc>
              </a:tr>
              <a:tr h="1227475">
                <a:tc>
                  <a:txBody>
                    <a:bodyPr/>
                    <a:lstStyle/>
                    <a:p>
                      <a:pPr indent="0" lvl="0" marL="0" marR="0" rtl="0" algn="l">
                        <a:spcBef>
                          <a:spcPts val="0"/>
                        </a:spcBef>
                        <a:spcAft>
                          <a:spcPts val="0"/>
                        </a:spcAft>
                        <a:buClr>
                          <a:schemeClr val="dk1"/>
                        </a:buClr>
                        <a:buSzPts val="800"/>
                        <a:buFont typeface="Calibri"/>
                        <a:buNone/>
                      </a:pPr>
                      <a:r>
                        <a:rPr lang="en" sz="1100"/>
                        <a:t>1</a:t>
                      </a:r>
                      <a:endParaRPr/>
                    </a:p>
                  </a:txBody>
                  <a:tcPr marT="29275" marB="29275" marR="58525" marL="58525"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100"/>
                        <a:t>Desaturation</a:t>
                      </a:r>
                      <a:endParaRPr/>
                    </a:p>
                  </a:txBody>
                  <a:tcPr marT="29275" marB="29275" marR="58525" marL="58525"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100">
                          <a:latin typeface="Arial"/>
                          <a:ea typeface="Arial"/>
                          <a:cs typeface="Arial"/>
                          <a:sym typeface="Arial"/>
                        </a:rPr>
                        <a:t>Converts the input RGB image to gray scale so that frequency sampling (FFT) can be applied</a:t>
                      </a:r>
                      <a:r>
                        <a:rPr lang="en" sz="900">
                          <a:latin typeface="Arial"/>
                          <a:ea typeface="Arial"/>
                          <a:cs typeface="Arial"/>
                          <a:sym typeface="Arial"/>
                        </a:rPr>
                        <a:t>.</a:t>
                      </a:r>
                      <a:endParaRPr sz="600"/>
                    </a:p>
                  </a:txBody>
                  <a:tcPr marT="29275" marB="29275" marR="58525" marL="58525" anchor="ctr">
                    <a:solidFill>
                      <a:srgbClr val="D9EAD3"/>
                    </a:solidFill>
                  </a:tcPr>
                </a:tc>
                <a:tc rowSpan="3">
                  <a:txBody>
                    <a:bodyPr/>
                    <a:lstStyle/>
                    <a:p>
                      <a:pPr indent="0" lvl="0" marL="0" rtl="0" algn="l">
                        <a:spcBef>
                          <a:spcPts val="0"/>
                        </a:spcBef>
                        <a:spcAft>
                          <a:spcPts val="0"/>
                        </a:spcAft>
                        <a:buNone/>
                      </a:pPr>
                      <a:r>
                        <a:rPr lang="en"/>
                        <a:t>  </a:t>
                      </a:r>
                      <a:r>
                        <a:rPr lang="en" sz="1100" u="sng">
                          <a:solidFill>
                            <a:schemeClr val="hlink"/>
                          </a:solidFill>
                          <a:latin typeface="Calibri"/>
                          <a:ea typeface="Calibri"/>
                          <a:cs typeface="Calibri"/>
                          <a:sym typeface="Calibri"/>
                          <a:hlinkClick r:id="rId3"/>
                        </a:rPr>
                        <a:t>https://github.com/Dheebak-12/mulitimedia/tree/main/Q3</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uFill>
                          <a:noFill/>
                        </a:uFill>
                        <a:latin typeface="Calibri"/>
                        <a:ea typeface="Calibri"/>
                        <a:cs typeface="Calibri"/>
                        <a:sym typeface="Calibri"/>
                        <a:hlinkClick r:id="rId4">
                          <a:extLst>
                            <a:ext uri="{A12FA001-AC4F-418D-AE19-62706E023703}">
                              <ahyp:hlinkClr val="tx"/>
                            </a:ext>
                          </a:extLst>
                        </a:hlinkClick>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txBody>
                  <a:tcPr marT="29275" marB="29275" marR="58525" marL="58525" anchor="ctr">
                    <a:solidFill>
                      <a:srgbClr val="D9EAD3"/>
                    </a:solidFill>
                  </a:tcPr>
                </a:tc>
              </a:tr>
              <a:tr h="1062100">
                <a:tc>
                  <a:txBody>
                    <a:bodyPr/>
                    <a:lstStyle/>
                    <a:p>
                      <a:pPr indent="0" lvl="0" marL="0" marR="0" rtl="0" algn="l">
                        <a:spcBef>
                          <a:spcPts val="0"/>
                        </a:spcBef>
                        <a:spcAft>
                          <a:spcPts val="0"/>
                        </a:spcAft>
                        <a:buClr>
                          <a:schemeClr val="dk1"/>
                        </a:buClr>
                        <a:buSzPts val="800"/>
                        <a:buFont typeface="Calibri"/>
                        <a:buNone/>
                      </a:pPr>
                      <a:r>
                        <a:rPr lang="en" sz="1100"/>
                        <a:t>2</a:t>
                      </a:r>
                      <a:endParaRPr/>
                    </a:p>
                  </a:txBody>
                  <a:tcPr marT="29275" marB="29275" marR="58525" marL="58525"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100"/>
                        <a:t>Frequency Sampling (FFT)</a:t>
                      </a:r>
                      <a:endParaRPr/>
                    </a:p>
                  </a:txBody>
                  <a:tcPr marT="29275" marB="29275" marR="58525" marL="58525"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100">
                          <a:latin typeface="Arial"/>
                          <a:ea typeface="Arial"/>
                          <a:cs typeface="Arial"/>
                          <a:sym typeface="Arial"/>
                        </a:rPr>
                        <a:t>Reduces image resolution in the frequency domain by keeping only low-frequency components (1/f sampling). This simulates undersampling.</a:t>
                      </a:r>
                      <a:endParaRPr sz="800"/>
                    </a:p>
                  </a:txBody>
                  <a:tcPr marT="29275" marB="29275" marR="58525" marL="58525" anchor="ctr">
                    <a:solidFill>
                      <a:srgbClr val="D9EAD3"/>
                    </a:solidFill>
                  </a:tcPr>
                </a:tc>
                <a:tc vMerge="1"/>
              </a:tr>
              <a:tr h="989750">
                <a:tc>
                  <a:txBody>
                    <a:bodyPr/>
                    <a:lstStyle/>
                    <a:p>
                      <a:pPr indent="0" lvl="0" marL="0" marR="0" rtl="0" algn="l">
                        <a:spcBef>
                          <a:spcPts val="0"/>
                        </a:spcBef>
                        <a:spcAft>
                          <a:spcPts val="0"/>
                        </a:spcAft>
                        <a:buClr>
                          <a:schemeClr val="dk1"/>
                        </a:buClr>
                        <a:buSzPts val="800"/>
                        <a:buFont typeface="Calibri"/>
                        <a:buNone/>
                      </a:pPr>
                      <a:r>
                        <a:rPr lang="en" sz="1100"/>
                        <a:t>3</a:t>
                      </a:r>
                      <a:endParaRPr/>
                    </a:p>
                  </a:txBody>
                  <a:tcPr marT="29275" marB="29275" marR="58525" marL="58525"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100"/>
                        <a:t>Spatial Sampling (1/f Resolution)</a:t>
                      </a:r>
                      <a:endParaRPr/>
                    </a:p>
                  </a:txBody>
                  <a:tcPr marT="29275" marB="29275" marR="58525" marL="58525" anchor="ctr">
                    <a:solidFill>
                      <a:srgbClr val="D9EAD3"/>
                    </a:solidFill>
                  </a:tcPr>
                </a:tc>
                <a:tc>
                  <a:txBody>
                    <a:bodyPr/>
                    <a:lstStyle/>
                    <a:p>
                      <a:pPr indent="0" lvl="0" marL="0" marR="0" rtl="0" algn="l">
                        <a:spcBef>
                          <a:spcPts val="0"/>
                        </a:spcBef>
                        <a:spcAft>
                          <a:spcPts val="0"/>
                        </a:spcAft>
                        <a:buClr>
                          <a:schemeClr val="dk1"/>
                        </a:buClr>
                        <a:buSzPts val="800"/>
                        <a:buFont typeface="Calibri"/>
                        <a:buNone/>
                      </a:pPr>
                      <a:r>
                        <a:rPr lang="en" sz="1100"/>
                        <a:t>Downsamples the RGB image by taking every f-th row and column. This reduces spatial resolution directly.</a:t>
                      </a:r>
                      <a:endParaRPr sz="1100"/>
                    </a:p>
                  </a:txBody>
                  <a:tcPr marT="29275" marB="29275" marR="58525" marL="58525" anchor="ctr">
                    <a:solidFill>
                      <a:srgbClr val="D9EAD3"/>
                    </a:solidFill>
                  </a:tcPr>
                </a:tc>
                <a:tc vMerge="1"/>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5"/>
          <p:cNvSpPr txBox="1"/>
          <p:nvPr>
            <p:ph type="title"/>
          </p:nvPr>
        </p:nvSpPr>
        <p:spPr>
          <a:xfrm>
            <a:off x="0" y="0"/>
            <a:ext cx="9144000" cy="391500"/>
          </a:xfrm>
          <a:prstGeom prst="rect">
            <a:avLst/>
          </a:prstGeom>
          <a:noFill/>
          <a:ln>
            <a:noFill/>
          </a:ln>
        </p:spPr>
        <p:txBody>
          <a:bodyPr anchorCtr="0" anchor="ctr" bIns="34275" lIns="68575" spcFirstLastPara="1" rIns="68575" wrap="square" tIns="34275">
            <a:normAutofit fontScale="90000"/>
          </a:bodyPr>
          <a:lstStyle/>
          <a:p>
            <a:pPr indent="0" lvl="0" marL="0" rtl="0" algn="ctr">
              <a:lnSpc>
                <a:spcPct val="90000"/>
              </a:lnSpc>
              <a:spcBef>
                <a:spcPts val="0"/>
              </a:spcBef>
              <a:spcAft>
                <a:spcPts val="0"/>
              </a:spcAft>
              <a:buClr>
                <a:schemeClr val="dk1"/>
              </a:buClr>
              <a:buSzPct val="100000"/>
              <a:buFont typeface="Calibri"/>
              <a:buNone/>
            </a:pPr>
            <a:r>
              <a:rPr lang="en"/>
              <a:t>Empirical Results &amp; Commentary</a:t>
            </a:r>
            <a:endParaRPr/>
          </a:p>
        </p:txBody>
      </p:sp>
      <p:sp>
        <p:nvSpPr>
          <p:cNvPr id="235" name="Google Shape;235;p35"/>
          <p:cNvSpPr txBox="1"/>
          <p:nvPr/>
        </p:nvSpPr>
        <p:spPr>
          <a:xfrm>
            <a:off x="7296150" y="5572125"/>
            <a:ext cx="5486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pic>
        <p:nvPicPr>
          <p:cNvPr id="236" name="Google Shape;236;p35"/>
          <p:cNvPicPr preferRelativeResize="0"/>
          <p:nvPr/>
        </p:nvPicPr>
        <p:blipFill>
          <a:blip r:embed="rId3">
            <a:alphaModFix/>
          </a:blip>
          <a:stretch>
            <a:fillRect/>
          </a:stretch>
        </p:blipFill>
        <p:spPr>
          <a:xfrm>
            <a:off x="339050" y="547475"/>
            <a:ext cx="1896825" cy="1055656"/>
          </a:xfrm>
          <a:prstGeom prst="rect">
            <a:avLst/>
          </a:prstGeom>
          <a:noFill/>
          <a:ln>
            <a:noFill/>
          </a:ln>
        </p:spPr>
      </p:pic>
      <p:sp>
        <p:nvSpPr>
          <p:cNvPr id="237" name="Google Shape;237;p35"/>
          <p:cNvSpPr txBox="1"/>
          <p:nvPr/>
        </p:nvSpPr>
        <p:spPr>
          <a:xfrm>
            <a:off x="803813" y="1549650"/>
            <a:ext cx="860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FREQ 1/2</a:t>
            </a:r>
            <a:endParaRPr sz="1200">
              <a:solidFill>
                <a:schemeClr val="dk1"/>
              </a:solidFill>
              <a:latin typeface="Calibri"/>
              <a:ea typeface="Calibri"/>
              <a:cs typeface="Calibri"/>
              <a:sym typeface="Calibri"/>
            </a:endParaRPr>
          </a:p>
        </p:txBody>
      </p:sp>
      <p:pic>
        <p:nvPicPr>
          <p:cNvPr id="238" name="Google Shape;238;p35"/>
          <p:cNvPicPr preferRelativeResize="0"/>
          <p:nvPr/>
        </p:nvPicPr>
        <p:blipFill rotWithShape="1">
          <a:blip r:embed="rId4">
            <a:alphaModFix/>
          </a:blip>
          <a:srcRect b="-5599" l="0" r="0" t="5600"/>
          <a:stretch/>
        </p:blipFill>
        <p:spPr>
          <a:xfrm>
            <a:off x="2617175" y="529900"/>
            <a:ext cx="1798517" cy="1090800"/>
          </a:xfrm>
          <a:prstGeom prst="rect">
            <a:avLst/>
          </a:prstGeom>
          <a:noFill/>
          <a:ln>
            <a:noFill/>
          </a:ln>
        </p:spPr>
      </p:pic>
      <p:sp>
        <p:nvSpPr>
          <p:cNvPr id="239" name="Google Shape;239;p35"/>
          <p:cNvSpPr txBox="1"/>
          <p:nvPr/>
        </p:nvSpPr>
        <p:spPr>
          <a:xfrm>
            <a:off x="3161388" y="1481188"/>
            <a:ext cx="1303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FREQ 1/4</a:t>
            </a:r>
            <a:endParaRPr sz="1200">
              <a:solidFill>
                <a:schemeClr val="dk1"/>
              </a:solidFill>
              <a:latin typeface="Calibri"/>
              <a:ea typeface="Calibri"/>
              <a:cs typeface="Calibri"/>
              <a:sym typeface="Calibri"/>
            </a:endParaRPr>
          </a:p>
        </p:txBody>
      </p:sp>
      <p:pic>
        <p:nvPicPr>
          <p:cNvPr id="240" name="Google Shape;240;p35"/>
          <p:cNvPicPr preferRelativeResize="0"/>
          <p:nvPr/>
        </p:nvPicPr>
        <p:blipFill>
          <a:blip r:embed="rId5">
            <a:alphaModFix/>
          </a:blip>
          <a:stretch>
            <a:fillRect/>
          </a:stretch>
        </p:blipFill>
        <p:spPr>
          <a:xfrm>
            <a:off x="4747200" y="524925"/>
            <a:ext cx="1896825" cy="1055650"/>
          </a:xfrm>
          <a:prstGeom prst="rect">
            <a:avLst/>
          </a:prstGeom>
          <a:noFill/>
          <a:ln>
            <a:noFill/>
          </a:ln>
        </p:spPr>
      </p:pic>
      <p:sp>
        <p:nvSpPr>
          <p:cNvPr id="241" name="Google Shape;241;p35"/>
          <p:cNvSpPr txBox="1"/>
          <p:nvPr/>
        </p:nvSpPr>
        <p:spPr>
          <a:xfrm>
            <a:off x="5171510" y="1481195"/>
            <a:ext cx="1303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FREQ 1/8</a:t>
            </a:r>
            <a:endParaRPr sz="1200">
              <a:solidFill>
                <a:schemeClr val="dk1"/>
              </a:solidFill>
              <a:latin typeface="Calibri"/>
              <a:ea typeface="Calibri"/>
              <a:cs typeface="Calibri"/>
              <a:sym typeface="Calibri"/>
            </a:endParaRPr>
          </a:p>
        </p:txBody>
      </p:sp>
      <p:pic>
        <p:nvPicPr>
          <p:cNvPr id="242" name="Google Shape;242;p35"/>
          <p:cNvPicPr preferRelativeResize="0"/>
          <p:nvPr/>
        </p:nvPicPr>
        <p:blipFill>
          <a:blip r:embed="rId6">
            <a:alphaModFix/>
          </a:blip>
          <a:stretch>
            <a:fillRect/>
          </a:stretch>
        </p:blipFill>
        <p:spPr>
          <a:xfrm>
            <a:off x="6926325" y="551075"/>
            <a:ext cx="1896825" cy="1055650"/>
          </a:xfrm>
          <a:prstGeom prst="rect">
            <a:avLst/>
          </a:prstGeom>
          <a:noFill/>
          <a:ln>
            <a:noFill/>
          </a:ln>
        </p:spPr>
      </p:pic>
      <p:sp>
        <p:nvSpPr>
          <p:cNvPr id="243" name="Google Shape;243;p35"/>
          <p:cNvSpPr txBox="1"/>
          <p:nvPr/>
        </p:nvSpPr>
        <p:spPr>
          <a:xfrm>
            <a:off x="7409525" y="1549650"/>
            <a:ext cx="1363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FREQ 1/16</a:t>
            </a:r>
            <a:endParaRPr sz="1200">
              <a:solidFill>
                <a:schemeClr val="dk1"/>
              </a:solidFill>
              <a:latin typeface="Calibri"/>
              <a:ea typeface="Calibri"/>
              <a:cs typeface="Calibri"/>
              <a:sym typeface="Calibri"/>
            </a:endParaRPr>
          </a:p>
        </p:txBody>
      </p:sp>
      <p:sp>
        <p:nvSpPr>
          <p:cNvPr id="244" name="Google Shape;244;p35"/>
          <p:cNvSpPr txBox="1"/>
          <p:nvPr/>
        </p:nvSpPr>
        <p:spPr>
          <a:xfrm>
            <a:off x="4852725" y="2715250"/>
            <a:ext cx="4341300" cy="242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1"/>
                </a:solidFill>
              </a:rPr>
              <a:t>Story:</a:t>
            </a:r>
            <a:endParaRPr b="1" sz="12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The script first opens the picture and prepares two forms: a gray img for FFT ops and an RGB image for spatial reduction.</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For freq-based sampling, the gray image is moved to the freq domain, keeping mainly Low Frequency info.</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After applying Inverse Fast Fourier Transform, the result turns soft and blurry because most High Frequency detail is removed.</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In spatial downsampling, the RGB image is reduced by selecting every nth pixel without any filtering.</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This direct reduction introduces pixel blocks + aliasing, which get worse at bigger factors (1/8, 1/16).</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In short: FFT filtering smooths out detail, while spatial skipping produces blocky, low-resolution output.</a:t>
            </a:r>
            <a:endParaRPr sz="1000">
              <a:solidFill>
                <a:schemeClr val="dk1"/>
              </a:solidFill>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pic>
        <p:nvPicPr>
          <p:cNvPr id="245" name="Google Shape;245;p35"/>
          <p:cNvPicPr preferRelativeResize="0"/>
          <p:nvPr/>
        </p:nvPicPr>
        <p:blipFill>
          <a:blip r:embed="rId7">
            <a:alphaModFix/>
          </a:blip>
          <a:stretch>
            <a:fillRect/>
          </a:stretch>
        </p:blipFill>
        <p:spPr>
          <a:xfrm>
            <a:off x="152400" y="1843574"/>
            <a:ext cx="1963150" cy="1190650"/>
          </a:xfrm>
          <a:prstGeom prst="rect">
            <a:avLst/>
          </a:prstGeom>
          <a:noFill/>
          <a:ln>
            <a:noFill/>
          </a:ln>
        </p:spPr>
      </p:pic>
      <p:pic>
        <p:nvPicPr>
          <p:cNvPr id="246" name="Google Shape;246;p35"/>
          <p:cNvPicPr preferRelativeResize="0"/>
          <p:nvPr/>
        </p:nvPicPr>
        <p:blipFill>
          <a:blip r:embed="rId8">
            <a:alphaModFix/>
          </a:blip>
          <a:stretch>
            <a:fillRect/>
          </a:stretch>
        </p:blipFill>
        <p:spPr>
          <a:xfrm>
            <a:off x="2899562" y="1804175"/>
            <a:ext cx="1428750" cy="952500"/>
          </a:xfrm>
          <a:prstGeom prst="rect">
            <a:avLst/>
          </a:prstGeom>
          <a:noFill/>
          <a:ln>
            <a:noFill/>
          </a:ln>
        </p:spPr>
      </p:pic>
      <p:pic>
        <p:nvPicPr>
          <p:cNvPr id="247" name="Google Shape;247;p35"/>
          <p:cNvPicPr preferRelativeResize="0"/>
          <p:nvPr/>
        </p:nvPicPr>
        <p:blipFill>
          <a:blip r:embed="rId9">
            <a:alphaModFix/>
          </a:blip>
          <a:stretch>
            <a:fillRect/>
          </a:stretch>
        </p:blipFill>
        <p:spPr>
          <a:xfrm>
            <a:off x="5379838" y="1925363"/>
            <a:ext cx="971400" cy="647600"/>
          </a:xfrm>
          <a:prstGeom prst="rect">
            <a:avLst/>
          </a:prstGeom>
          <a:noFill/>
          <a:ln>
            <a:noFill/>
          </a:ln>
        </p:spPr>
      </p:pic>
      <p:pic>
        <p:nvPicPr>
          <p:cNvPr id="248" name="Google Shape;248;p35"/>
          <p:cNvPicPr preferRelativeResize="0"/>
          <p:nvPr/>
        </p:nvPicPr>
        <p:blipFill>
          <a:blip r:embed="rId10">
            <a:alphaModFix/>
          </a:blip>
          <a:stretch>
            <a:fillRect/>
          </a:stretch>
        </p:blipFill>
        <p:spPr>
          <a:xfrm>
            <a:off x="7631887" y="2117500"/>
            <a:ext cx="606000" cy="313375"/>
          </a:xfrm>
          <a:prstGeom prst="rect">
            <a:avLst/>
          </a:prstGeom>
          <a:noFill/>
          <a:ln>
            <a:noFill/>
          </a:ln>
        </p:spPr>
      </p:pic>
      <p:sp>
        <p:nvSpPr>
          <p:cNvPr id="249" name="Google Shape;249;p35"/>
          <p:cNvSpPr txBox="1"/>
          <p:nvPr/>
        </p:nvSpPr>
        <p:spPr>
          <a:xfrm>
            <a:off x="2115550" y="2117500"/>
            <a:ext cx="702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SPATIAL-</a:t>
            </a:r>
            <a:r>
              <a:rPr lang="en" sz="1200">
                <a:solidFill>
                  <a:schemeClr val="dk1"/>
                </a:solidFill>
                <a:latin typeface="Calibri"/>
                <a:ea typeface="Calibri"/>
                <a:cs typeface="Calibri"/>
                <a:sym typeface="Calibri"/>
              </a:rPr>
              <a:t> 1/2</a:t>
            </a:r>
            <a:endParaRPr sz="1200">
              <a:solidFill>
                <a:schemeClr val="dk1"/>
              </a:solidFill>
              <a:latin typeface="Calibri"/>
              <a:ea typeface="Calibri"/>
              <a:cs typeface="Calibri"/>
              <a:sym typeface="Calibri"/>
            </a:endParaRPr>
          </a:p>
        </p:txBody>
      </p:sp>
      <p:sp>
        <p:nvSpPr>
          <p:cNvPr id="250" name="Google Shape;250;p35"/>
          <p:cNvSpPr txBox="1"/>
          <p:nvPr/>
        </p:nvSpPr>
        <p:spPr>
          <a:xfrm>
            <a:off x="4328300" y="1983325"/>
            <a:ext cx="702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SPATIAL- 1/4</a:t>
            </a:r>
            <a:endParaRPr sz="1200">
              <a:solidFill>
                <a:schemeClr val="dk1"/>
              </a:solidFill>
              <a:latin typeface="Calibri"/>
              <a:ea typeface="Calibri"/>
              <a:cs typeface="Calibri"/>
              <a:sym typeface="Calibri"/>
            </a:endParaRPr>
          </a:p>
        </p:txBody>
      </p:sp>
      <p:sp>
        <p:nvSpPr>
          <p:cNvPr id="251" name="Google Shape;251;p35"/>
          <p:cNvSpPr txBox="1"/>
          <p:nvPr/>
        </p:nvSpPr>
        <p:spPr>
          <a:xfrm>
            <a:off x="6351251" y="1968375"/>
            <a:ext cx="702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SPATIAL- 1/8</a:t>
            </a:r>
            <a:endParaRPr sz="1200">
              <a:solidFill>
                <a:schemeClr val="dk1"/>
              </a:solidFill>
              <a:latin typeface="Calibri"/>
              <a:ea typeface="Calibri"/>
              <a:cs typeface="Calibri"/>
              <a:sym typeface="Calibri"/>
            </a:endParaRPr>
          </a:p>
        </p:txBody>
      </p:sp>
      <p:sp>
        <p:nvSpPr>
          <p:cNvPr id="252" name="Google Shape;252;p35"/>
          <p:cNvSpPr txBox="1"/>
          <p:nvPr/>
        </p:nvSpPr>
        <p:spPr>
          <a:xfrm>
            <a:off x="8237875" y="1976325"/>
            <a:ext cx="702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SPATIAL- 1/16</a:t>
            </a:r>
            <a:endParaRPr sz="1200">
              <a:solidFill>
                <a:schemeClr val="dk1"/>
              </a:solidFill>
              <a:latin typeface="Calibri"/>
              <a:ea typeface="Calibri"/>
              <a:cs typeface="Calibri"/>
              <a:sym typeface="Calibri"/>
            </a:endParaRPr>
          </a:p>
        </p:txBody>
      </p:sp>
      <p:sp>
        <p:nvSpPr>
          <p:cNvPr id="253" name="Google Shape;253;p35"/>
          <p:cNvSpPr txBox="1"/>
          <p:nvPr/>
        </p:nvSpPr>
        <p:spPr>
          <a:xfrm>
            <a:off x="-50150" y="2940175"/>
            <a:ext cx="5080500" cy="2311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b="1" lang="en" sz="1200">
                <a:solidFill>
                  <a:schemeClr val="dk1"/>
                </a:solidFill>
              </a:rPr>
              <a:t>    Commentary</a:t>
            </a:r>
            <a:endParaRPr b="1" sz="1200">
              <a:solidFill>
                <a:schemeClr val="dk1"/>
              </a:solidFill>
            </a:endParaRPr>
          </a:p>
          <a:p>
            <a:pPr indent="-292100" lvl="0" marL="457200" rtl="0" algn="l">
              <a:lnSpc>
                <a:spcPct val="115000"/>
              </a:lnSpc>
              <a:spcBef>
                <a:spcPts val="1200"/>
              </a:spcBef>
              <a:spcAft>
                <a:spcPts val="0"/>
              </a:spcAft>
              <a:buClr>
                <a:schemeClr val="dk1"/>
              </a:buClr>
              <a:buSzPts val="1000"/>
              <a:buChar char="●"/>
            </a:pPr>
            <a:r>
              <a:rPr lang="en" sz="1000">
                <a:solidFill>
                  <a:schemeClr val="dk1"/>
                </a:solidFill>
              </a:rPr>
              <a:t>The image is first switched to a grayscale format so that frequency-based sampling can be applied effectively.</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Using the FFT, the frequency content is analyzed and only the lower-frequency parts are kept while the rest are trimmed out.</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After applying the Inverse FFT (IFFT), the image is rebuilt with missing high-frequency edges, giving it a softer appearance.</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For spatial sampling, the algorithm simply drops pixels at fixed intervals in the RGB image without using any filtering step.</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The outputs highlight the contrast between the smooth blur produced by FFT filtering and the blocky aliasing caused by spatial pixel skipping.</a:t>
            </a:r>
            <a:endParaRPr sz="1000">
              <a:solidFill>
                <a:schemeClr val="dk1"/>
              </a:solidFill>
            </a:endParaRPr>
          </a:p>
          <a:p>
            <a:pPr indent="0" lvl="0" marL="0" rtl="0" algn="l">
              <a:spcBef>
                <a:spcPts val="120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type="title"/>
          </p:nvPr>
        </p:nvSpPr>
        <p:spPr>
          <a:xfrm>
            <a:off x="1500575" y="88875"/>
            <a:ext cx="7014900" cy="526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Calibri"/>
              <a:buNone/>
            </a:pPr>
            <a:r>
              <a:rPr lang="en"/>
              <a:t>                   Code Snippets</a:t>
            </a:r>
            <a:endParaRPr/>
          </a:p>
        </p:txBody>
      </p:sp>
      <p:sp>
        <p:nvSpPr>
          <p:cNvPr id="259" name="Google Shape;259;p36"/>
          <p:cNvSpPr txBox="1"/>
          <p:nvPr>
            <p:ph idx="1" type="body"/>
          </p:nvPr>
        </p:nvSpPr>
        <p:spPr>
          <a:xfrm>
            <a:off x="4235125" y="3259200"/>
            <a:ext cx="4572000" cy="1718400"/>
          </a:xfrm>
          <a:prstGeom prst="rect">
            <a:avLst/>
          </a:prstGeom>
          <a:noFill/>
          <a:ln>
            <a:noFill/>
          </a:ln>
        </p:spPr>
        <p:txBody>
          <a:bodyPr anchorCtr="0" anchor="t" bIns="34275" lIns="68575" spcFirstLastPara="1" rIns="68575" wrap="square" tIns="34275">
            <a:spAutoFit/>
          </a:bodyPr>
          <a:lstStyle/>
          <a:p>
            <a:pPr indent="0" lvl="0" marL="0" rtl="0" algn="l">
              <a:lnSpc>
                <a:spcPct val="115000"/>
              </a:lnSpc>
              <a:spcBef>
                <a:spcPts val="0"/>
              </a:spcBef>
              <a:spcAft>
                <a:spcPts val="0"/>
              </a:spcAft>
              <a:buNone/>
            </a:pPr>
            <a:r>
              <a:rPr b="1" lang="en" sz="1385"/>
              <a:t>REFERENCES</a:t>
            </a:r>
            <a:r>
              <a:rPr lang="en" sz="1385"/>
              <a:t>  :</a:t>
            </a:r>
            <a:r>
              <a:rPr lang="en" sz="2127"/>
              <a:t> </a:t>
            </a:r>
            <a:endParaRPr sz="1352">
              <a:latin typeface="Arial"/>
              <a:ea typeface="Arial"/>
              <a:cs typeface="Arial"/>
              <a:sym typeface="Arial"/>
            </a:endParaRPr>
          </a:p>
          <a:p>
            <a:pPr indent="-152400" lvl="0" marL="177800" rtl="0" algn="l">
              <a:lnSpc>
                <a:spcPct val="115000"/>
              </a:lnSpc>
              <a:spcBef>
                <a:spcPts val="0"/>
              </a:spcBef>
              <a:spcAft>
                <a:spcPts val="0"/>
              </a:spcAft>
              <a:buSzPts val="1000"/>
              <a:buFont typeface="Arial"/>
              <a:buChar char="•"/>
            </a:pPr>
            <a:r>
              <a:rPr lang="en" sz="1000">
                <a:latin typeface="Arial"/>
                <a:ea typeface="Arial"/>
                <a:cs typeface="Arial"/>
                <a:sym typeface="Arial"/>
              </a:rPr>
              <a:t>Gonzalez, R. C., &amp; Woods, R. E. (2018). </a:t>
            </a:r>
            <a:r>
              <a:rPr i="1" lang="en" sz="1000">
                <a:latin typeface="Arial"/>
                <a:ea typeface="Arial"/>
                <a:cs typeface="Arial"/>
                <a:sym typeface="Arial"/>
              </a:rPr>
              <a:t>Digital Image Processing</a:t>
            </a:r>
            <a:r>
              <a:rPr lang="en" sz="1000">
                <a:latin typeface="Arial"/>
                <a:ea typeface="Arial"/>
                <a:cs typeface="Arial"/>
                <a:sym typeface="Arial"/>
              </a:rPr>
              <a:t> (4th ed.). Pearson.</a:t>
            </a:r>
            <a:endParaRPr sz="1000">
              <a:latin typeface="Arial"/>
              <a:ea typeface="Arial"/>
              <a:cs typeface="Arial"/>
              <a:sym typeface="Arial"/>
            </a:endParaRPr>
          </a:p>
          <a:p>
            <a:pPr indent="-152400" lvl="0" marL="177800" rtl="0" algn="l">
              <a:lnSpc>
                <a:spcPct val="115000"/>
              </a:lnSpc>
              <a:spcBef>
                <a:spcPts val="0"/>
              </a:spcBef>
              <a:spcAft>
                <a:spcPts val="0"/>
              </a:spcAft>
              <a:buSzPts val="1000"/>
              <a:buFont typeface="Arial"/>
              <a:buChar char="•"/>
            </a:pPr>
            <a:r>
              <a:rPr lang="en" sz="1000">
                <a:latin typeface="Arial"/>
                <a:ea typeface="Arial"/>
                <a:cs typeface="Arial"/>
                <a:sym typeface="Arial"/>
              </a:rPr>
              <a:t>Oppenheim, A. V., Schafer, R. W., &amp; Buck, J. R. (1999). </a:t>
            </a:r>
            <a:r>
              <a:rPr i="1" lang="en" sz="1000">
                <a:latin typeface="Arial"/>
                <a:ea typeface="Arial"/>
                <a:cs typeface="Arial"/>
                <a:sym typeface="Arial"/>
              </a:rPr>
              <a:t>Discrete-Time Signal Processing</a:t>
            </a:r>
            <a:r>
              <a:rPr lang="en" sz="1000">
                <a:latin typeface="Arial"/>
                <a:ea typeface="Arial"/>
                <a:cs typeface="Arial"/>
                <a:sym typeface="Arial"/>
              </a:rPr>
              <a:t> (2nd ed.). Prentice Hall.</a:t>
            </a:r>
            <a:endParaRPr sz="1000">
              <a:latin typeface="Arial"/>
              <a:ea typeface="Arial"/>
              <a:cs typeface="Arial"/>
              <a:sym typeface="Arial"/>
            </a:endParaRPr>
          </a:p>
          <a:p>
            <a:pPr indent="-152400" lvl="0" marL="177800" rtl="0" algn="l">
              <a:lnSpc>
                <a:spcPct val="115000"/>
              </a:lnSpc>
              <a:spcBef>
                <a:spcPts val="0"/>
              </a:spcBef>
              <a:spcAft>
                <a:spcPts val="0"/>
              </a:spcAft>
              <a:buSzPts val="1000"/>
              <a:buFont typeface="Arial"/>
              <a:buChar char="•"/>
            </a:pPr>
            <a:r>
              <a:rPr lang="en" sz="1000">
                <a:latin typeface="Arial"/>
                <a:ea typeface="Arial"/>
                <a:cs typeface="Arial"/>
                <a:sym typeface="Arial"/>
              </a:rPr>
              <a:t>Bradski, G. (2000). </a:t>
            </a:r>
            <a:r>
              <a:rPr i="1" lang="en" sz="1000">
                <a:latin typeface="Arial"/>
                <a:ea typeface="Arial"/>
                <a:cs typeface="Arial"/>
                <a:sym typeface="Arial"/>
              </a:rPr>
              <a:t>The OpenCV Library</a:t>
            </a:r>
            <a:r>
              <a:rPr lang="en" sz="1000">
                <a:latin typeface="Arial"/>
                <a:ea typeface="Arial"/>
                <a:cs typeface="Arial"/>
                <a:sym typeface="Arial"/>
              </a:rPr>
              <a:t>. Retrieved from https://docs.opencv.org/</a:t>
            </a:r>
            <a:endParaRPr sz="1000">
              <a:latin typeface="Arial"/>
              <a:ea typeface="Arial"/>
              <a:cs typeface="Arial"/>
              <a:sym typeface="Arial"/>
            </a:endParaRPr>
          </a:p>
          <a:p>
            <a:pPr indent="-38100" lvl="0" marL="177800" rtl="0" algn="l">
              <a:lnSpc>
                <a:spcPct val="70000"/>
              </a:lnSpc>
              <a:spcBef>
                <a:spcPts val="800"/>
              </a:spcBef>
              <a:spcAft>
                <a:spcPts val="0"/>
              </a:spcAft>
              <a:buClr>
                <a:schemeClr val="dk1"/>
              </a:buClr>
              <a:buSzPts val="1628"/>
              <a:buNone/>
            </a:pPr>
            <a:r>
              <a:t/>
            </a:r>
            <a:endParaRPr sz="1000"/>
          </a:p>
        </p:txBody>
      </p:sp>
      <p:sp>
        <p:nvSpPr>
          <p:cNvPr id="260" name="Google Shape;260;p36"/>
          <p:cNvSpPr txBox="1"/>
          <p:nvPr/>
        </p:nvSpPr>
        <p:spPr>
          <a:xfrm>
            <a:off x="314325" y="632250"/>
            <a:ext cx="3712200" cy="38790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from PIL import Image</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import numpy as np</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Load image</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gray = np.array(Image.open("img.jpg").convert("L"))</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rgb  = np.array(Image.open("img.jpg").convert("RGB"))</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print("Gray :", gray.shape)</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print("RGB  :", rgb.shape)</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Frequency sampling (FFT)</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def freq_sample(img, f):</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F = np.fft.fftshift(np.fft.fft2(img))</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H, W = img.shape</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h, w = H//f, W//f</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hs, ws = H//2 - h//2, W//2 - w//2</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F_low = np.zeros_like(F)</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F_low[hs:hs+h, ws:ws+w] = F[hs:hs+h, ws:ws+w]</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out = np.fft.ifft2(np.fft.ifftshift(F_low))</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out = np.abs(out)</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out = ((out - out.min()) / (out.ptp() + 1e-9) * 255).astype(np.uint8)</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    return out</a:t>
            </a:r>
            <a:endParaRPr sz="1000">
              <a:solidFill>
                <a:schemeClr val="dk1"/>
              </a:solidFill>
              <a:latin typeface="Calibri"/>
              <a:ea typeface="Calibri"/>
              <a:cs typeface="Calibri"/>
              <a:sym typeface="Calibri"/>
            </a:endParaRPr>
          </a:p>
        </p:txBody>
      </p:sp>
      <p:sp>
        <p:nvSpPr>
          <p:cNvPr id="261" name="Google Shape;261;p36"/>
          <p:cNvSpPr txBox="1"/>
          <p:nvPr/>
        </p:nvSpPr>
        <p:spPr>
          <a:xfrm>
            <a:off x="4235125" y="632250"/>
            <a:ext cx="3217200" cy="24936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Spatial sampling (RGB)</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def spatial_sample(img, f):</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return img[::f, ::f].copy()</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factors = [2, 4, 8, 16]</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for f in factors:</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out_f = freq_sample(gray, f)</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Image.fromarray(out_f).save(f"freq_1_{f}.png")</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print(f"Freq 1/{f} →", out_f.shape)</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out_s = spatial_sample(rgb, f)</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Image.fromarray(out_s).save(f"spatial_1_{f}.png")</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print(f"Spatial 1/{f} →", out_s.shape)</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    print("Done.")</a:t>
            </a:r>
            <a:endParaRPr sz="1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